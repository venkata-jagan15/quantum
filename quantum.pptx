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8" r:id="rId2"/>
    <p:sldId id="261" r:id="rId3"/>
    <p:sldId id="262" r:id="rId4"/>
    <p:sldId id="264" r:id="rId5"/>
    <p:sldId id="263" r:id="rId6"/>
    <p:sldId id="265" r:id="rId7"/>
    <p:sldId id="266" r:id="rId8"/>
    <p:sldId id="267" r:id="rId9"/>
    <p:sldId id="268" r:id="rId10"/>
    <p:sldId id="269" r:id="rId11"/>
    <p:sldId id="270" r:id="rId12"/>
    <p:sldId id="271" r:id="rId13"/>
    <p:sldId id="272" r:id="rId14"/>
    <p:sldId id="273" r:id="rId15"/>
    <p:sldId id="275" r:id="rId16"/>
    <p:sldId id="276" r:id="rId17"/>
    <p:sldId id="277" r:id="rId18"/>
    <p:sldId id="278" r:id="rId19"/>
    <p:sldId id="285" r:id="rId20"/>
    <p:sldId id="279" r:id="rId21"/>
    <p:sldId id="280" r:id="rId22"/>
    <p:sldId id="281" r:id="rId23"/>
    <p:sldId id="282" r:id="rId24"/>
    <p:sldId id="283" r:id="rId25"/>
    <p:sldId id="284" r:id="rId26"/>
    <p:sldId id="286" r:id="rId27"/>
    <p:sldId id="260" r:id="rId28"/>
    <p:sldId id="25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37CA9D-AE01-47E3-835A-3ED222E14AA8}" v="13" dt="2026-02-13T08:39:22.9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76" autoAdjust="0"/>
  </p:normalViewPr>
  <p:slideViewPr>
    <p:cSldViewPr snapToGrid="0">
      <p:cViewPr varScale="1">
        <p:scale>
          <a:sx n="78" d="100"/>
          <a:sy n="78" d="100"/>
        </p:scale>
        <p:origin x="878" y="7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228CF6-8B19-4E9D-BCBD-4CA54517B84C}" type="datetimeFigureOut">
              <a:rPr lang="en-IN" smtClean="0"/>
              <a:t>31-03-2026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BB3B61-4950-4F35-B4E4-F9AAF50DB4EE}" type="slidenum">
              <a:rPr lang="en-IN" smtClean="0"/>
              <a:t>‹#›</a:t>
            </a:fld>
            <a:endParaRPr lang="en-IN"/>
          </a:p>
        </p:txBody>
      </p:sp>
    </p:spTree>
    <p:extLst>
      <p:ext uri="{BB962C8B-B14F-4D97-AF65-F5344CB8AC3E}">
        <p14:creationId xmlns:p14="http://schemas.microsoft.com/office/powerpoint/2010/main" val="373002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7BB3B61-4950-4F35-B4E4-F9AAF50DB4EE}" type="slidenum">
              <a:rPr lang="en-IN" smtClean="0"/>
              <a:t>6</a:t>
            </a:fld>
            <a:endParaRPr lang="en-IN"/>
          </a:p>
        </p:txBody>
      </p:sp>
    </p:spTree>
    <p:extLst>
      <p:ext uri="{BB962C8B-B14F-4D97-AF65-F5344CB8AC3E}">
        <p14:creationId xmlns:p14="http://schemas.microsoft.com/office/powerpoint/2010/main" val="25582460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13" name="Rectangle 12"/>
          <p:cNvSpPr/>
          <p:nvPr userDrawn="1"/>
        </p:nvSpPr>
        <p:spPr>
          <a:xfrm>
            <a:off x="0" y="0"/>
            <a:ext cx="1218925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 name="Group 3"/>
          <p:cNvGrpSpPr/>
          <p:nvPr userDrawn="1"/>
        </p:nvGrpSpPr>
        <p:grpSpPr>
          <a:xfrm flipH="1">
            <a:off x="3969143" y="0"/>
            <a:ext cx="8220110" cy="7517335"/>
            <a:chOff x="0" y="0"/>
            <a:chExt cx="7909378" cy="7517335"/>
          </a:xfrm>
        </p:grpSpPr>
        <p:sp>
          <p:nvSpPr>
            <p:cNvPr id="5" name="Freeform 4"/>
            <p:cNvSpPr/>
            <p:nvPr/>
          </p:nvSpPr>
          <p:spPr>
            <a:xfrm>
              <a:off x="0" y="0"/>
              <a:ext cx="7909378" cy="6858000"/>
            </a:xfrm>
            <a:custGeom>
              <a:avLst/>
              <a:gdLst>
                <a:gd name="connsiteX0" fmla="*/ 0 w 7909378"/>
                <a:gd name="connsiteY0" fmla="*/ 0 h 6858000"/>
                <a:gd name="connsiteX1" fmla="*/ 3932040 w 7909378"/>
                <a:gd name="connsiteY1" fmla="*/ 0 h 6858000"/>
                <a:gd name="connsiteX2" fmla="*/ 7909378 w 7909378"/>
                <a:gd name="connsiteY2" fmla="*/ 6858000 h 6858000"/>
                <a:gd name="connsiteX3" fmla="*/ 0 w 790937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909378" h="6858000">
                  <a:moveTo>
                    <a:pt x="0" y="0"/>
                  </a:moveTo>
                  <a:lnTo>
                    <a:pt x="3932040" y="0"/>
                  </a:lnTo>
                  <a:lnTo>
                    <a:pt x="7909378" y="6858000"/>
                  </a:lnTo>
                  <a:lnTo>
                    <a:pt x="0" y="6858000"/>
                  </a:lnTo>
                  <a:close/>
                </a:path>
              </a:pathLst>
            </a:custGeom>
            <a:gradFill>
              <a:gsLst>
                <a:gs pos="2000">
                  <a:srgbClr val="FAA519">
                    <a:alpha val="54902"/>
                  </a:srgbClr>
                </a:gs>
                <a:gs pos="49138">
                  <a:srgbClr val="FF0000"/>
                </a:gs>
                <a:gs pos="100000">
                  <a:srgbClr val="003974">
                    <a:alpha val="9098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6" name="Freeform 5"/>
            <p:cNvSpPr/>
            <p:nvPr/>
          </p:nvSpPr>
          <p:spPr>
            <a:xfrm rot="19786510">
              <a:off x="6713062" y="2051373"/>
              <a:ext cx="660039" cy="5335414"/>
            </a:xfrm>
            <a:custGeom>
              <a:avLst/>
              <a:gdLst>
                <a:gd name="connsiteX0" fmla="*/ 29321 w 660039"/>
                <a:gd name="connsiteY0" fmla="*/ 0 h 5335414"/>
                <a:gd name="connsiteX1" fmla="*/ 660039 w 660039"/>
                <a:gd name="connsiteY1" fmla="*/ 367453 h 5335414"/>
                <a:gd name="connsiteX2" fmla="*/ 660038 w 660039"/>
                <a:gd name="connsiteY2" fmla="*/ 5335414 h 5335414"/>
                <a:gd name="connsiteX3" fmla="*/ 0 w 660039"/>
                <a:gd name="connsiteY3" fmla="*/ 4950879 h 5335414"/>
                <a:gd name="connsiteX4" fmla="*/ 0 w 660039"/>
                <a:gd name="connsiteY4" fmla="*/ 0 h 5335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39" h="5335414">
                  <a:moveTo>
                    <a:pt x="29321" y="0"/>
                  </a:moveTo>
                  <a:lnTo>
                    <a:pt x="660039" y="367453"/>
                  </a:lnTo>
                  <a:lnTo>
                    <a:pt x="660038" y="5335414"/>
                  </a:lnTo>
                  <a:lnTo>
                    <a:pt x="0" y="4950879"/>
                  </a:lnTo>
                  <a:lnTo>
                    <a:pt x="0" y="0"/>
                  </a:lnTo>
                  <a:close/>
                </a:path>
              </a:pathLst>
            </a:custGeom>
            <a:solidFill>
              <a:schemeClr val="bg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7" name="Freeform 6"/>
            <p:cNvSpPr/>
            <p:nvPr/>
          </p:nvSpPr>
          <p:spPr>
            <a:xfrm rot="19786510">
              <a:off x="5480337" y="882920"/>
              <a:ext cx="820480" cy="6634415"/>
            </a:xfrm>
            <a:custGeom>
              <a:avLst/>
              <a:gdLst>
                <a:gd name="connsiteX0" fmla="*/ 29321 w 660039"/>
                <a:gd name="connsiteY0" fmla="*/ 0 h 5335414"/>
                <a:gd name="connsiteX1" fmla="*/ 660039 w 660039"/>
                <a:gd name="connsiteY1" fmla="*/ 367453 h 5335414"/>
                <a:gd name="connsiteX2" fmla="*/ 660038 w 660039"/>
                <a:gd name="connsiteY2" fmla="*/ 5335414 h 5335414"/>
                <a:gd name="connsiteX3" fmla="*/ 0 w 660039"/>
                <a:gd name="connsiteY3" fmla="*/ 4950879 h 5335414"/>
                <a:gd name="connsiteX4" fmla="*/ 0 w 660039"/>
                <a:gd name="connsiteY4" fmla="*/ 0 h 5335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39" h="5335414">
                  <a:moveTo>
                    <a:pt x="29321" y="0"/>
                  </a:moveTo>
                  <a:lnTo>
                    <a:pt x="660039" y="367453"/>
                  </a:lnTo>
                  <a:lnTo>
                    <a:pt x="660038" y="5335414"/>
                  </a:lnTo>
                  <a:lnTo>
                    <a:pt x="0" y="4950879"/>
                  </a:lnTo>
                  <a:lnTo>
                    <a:pt x="0" y="0"/>
                  </a:lnTo>
                  <a:close/>
                </a:path>
              </a:pathLst>
            </a:cu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grpSp>
      <p:sp>
        <p:nvSpPr>
          <p:cNvPr id="8" name="TextBox 7"/>
          <p:cNvSpPr txBox="1"/>
          <p:nvPr userDrawn="1"/>
        </p:nvSpPr>
        <p:spPr>
          <a:xfrm>
            <a:off x="452480" y="5801077"/>
            <a:ext cx="1854354" cy="338554"/>
          </a:xfrm>
          <a:prstGeom prst="rect">
            <a:avLst/>
          </a:prstGeom>
          <a:noFill/>
        </p:spPr>
        <p:txBody>
          <a:bodyPr wrap="none" rtlCol="0">
            <a:spAutoFit/>
          </a:bodyPr>
          <a:lstStyle/>
          <a:p>
            <a:r>
              <a:rPr lang="en-IN" sz="1600" dirty="0">
                <a:solidFill>
                  <a:srgbClr val="154074"/>
                </a:solidFill>
                <a:latin typeface="Segoe UI" panose="020B0502040204020203" pitchFamily="34" charset="0"/>
                <a:cs typeface="Segoe UI" panose="020B0502040204020203" pitchFamily="34" charset="0"/>
              </a:rPr>
              <a:t>www.</a:t>
            </a:r>
            <a:r>
              <a:rPr lang="en-IN" sz="1600" b="1" dirty="0">
                <a:solidFill>
                  <a:srgbClr val="154074"/>
                </a:solidFill>
                <a:latin typeface="Segoe UI" panose="020B0502040204020203" pitchFamily="34" charset="0"/>
                <a:cs typeface="Segoe UI" panose="020B0502040204020203" pitchFamily="34" charset="0"/>
              </a:rPr>
              <a:t>gmrgroup</a:t>
            </a:r>
            <a:r>
              <a:rPr lang="en-IN" sz="1600" dirty="0">
                <a:solidFill>
                  <a:srgbClr val="154074"/>
                </a:solidFill>
                <a:latin typeface="Segoe UI" panose="020B0502040204020203" pitchFamily="34" charset="0"/>
                <a:cs typeface="Segoe UI" panose="020B0502040204020203" pitchFamily="34" charset="0"/>
              </a:rPr>
              <a:t>.in</a:t>
            </a:r>
          </a:p>
        </p:txBody>
      </p:sp>
      <p:pic>
        <p:nvPicPr>
          <p:cNvPr id="10" name="Picture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54279" y="5052995"/>
            <a:ext cx="3773109" cy="839593"/>
          </a:xfrm>
          <a:prstGeom prst="rect">
            <a:avLst/>
          </a:prstGeom>
        </p:spPr>
      </p:pic>
      <p:sp>
        <p:nvSpPr>
          <p:cNvPr id="11" name="TextBox 10"/>
          <p:cNvSpPr txBox="1"/>
          <p:nvPr userDrawn="1"/>
        </p:nvSpPr>
        <p:spPr>
          <a:xfrm>
            <a:off x="452480" y="4631728"/>
            <a:ext cx="1387111" cy="369332"/>
          </a:xfrm>
          <a:prstGeom prst="rect">
            <a:avLst/>
          </a:prstGeom>
          <a:noFill/>
        </p:spPr>
        <p:txBody>
          <a:bodyPr wrap="none" rtlCol="0">
            <a:spAutoFit/>
          </a:bodyPr>
          <a:lstStyle/>
          <a:p>
            <a:r>
              <a:rPr lang="en-IN" dirty="0">
                <a:solidFill>
                  <a:srgbClr val="154074"/>
                </a:solidFill>
                <a:latin typeface="Segoe UI" panose="020B0502040204020203" pitchFamily="34" charset="0"/>
                <a:cs typeface="Segoe UI" panose="020B0502040204020203" pitchFamily="34" charset="0"/>
              </a:rPr>
              <a:t>GMR Group</a:t>
            </a:r>
          </a:p>
        </p:txBody>
      </p:sp>
      <p:cxnSp>
        <p:nvCxnSpPr>
          <p:cNvPr id="12" name="Straight Connector 11"/>
          <p:cNvCxnSpPr/>
          <p:nvPr userDrawn="1"/>
        </p:nvCxnSpPr>
        <p:spPr>
          <a:xfrm>
            <a:off x="1780248" y="4838556"/>
            <a:ext cx="2137294" cy="0"/>
          </a:xfrm>
          <a:prstGeom prst="line">
            <a:avLst/>
          </a:prstGeom>
          <a:ln w="3175">
            <a:gradFill>
              <a:gsLst>
                <a:gs pos="0">
                  <a:schemeClr val="accent1"/>
                </a:gs>
                <a:gs pos="100000">
                  <a:schemeClr val="accent2"/>
                </a:gs>
              </a:gsLst>
              <a:lin ang="2700000" scaled="0"/>
            </a:gra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40817" y="623088"/>
            <a:ext cx="1038850" cy="380912"/>
          </a:xfrm>
          <a:prstGeom prst="rect">
            <a:avLst/>
          </a:prstGeom>
        </p:spPr>
      </p:pic>
    </p:spTree>
    <p:extLst>
      <p:ext uri="{BB962C8B-B14F-4D97-AF65-F5344CB8AC3E}">
        <p14:creationId xmlns:p14="http://schemas.microsoft.com/office/powerpoint/2010/main" val="227390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1066469" y="1"/>
            <a:ext cx="10059063" cy="873125"/>
          </a:xfrm>
          <a:prstGeom prst="rect">
            <a:avLst/>
          </a:prstGeom>
        </p:spPr>
        <p:txBody>
          <a:bodyPr anchor="ctr">
            <a:normAutofit/>
          </a:bodyPr>
          <a:lstStyle>
            <a:lvl1pPr algn="ctr">
              <a:defRPr sz="2400" b="1">
                <a:solidFill>
                  <a:schemeClr val="bg1"/>
                </a:solidFill>
                <a:latin typeface="+mn-lt"/>
              </a:defRPr>
            </a:lvl1pPr>
          </a:lstStyle>
          <a:p>
            <a:r>
              <a:rPr lang="en-US" dirty="0"/>
              <a:t>Title Here</a:t>
            </a:r>
            <a:endParaRPr lang="en-IN" dirty="0"/>
          </a:p>
        </p:txBody>
      </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876300"/>
          </a:xfrm>
          <a:prstGeom prst="rect">
            <a:avLst/>
          </a:prstGeom>
        </p:spPr>
      </p:pic>
      <p:sp>
        <p:nvSpPr>
          <p:cNvPr id="5" name="TextBox 4"/>
          <p:cNvSpPr txBox="1"/>
          <p:nvPr userDrawn="1"/>
        </p:nvSpPr>
        <p:spPr>
          <a:xfrm>
            <a:off x="536713" y="6500191"/>
            <a:ext cx="8927444" cy="230832"/>
          </a:xfrm>
          <a:prstGeom prst="rect">
            <a:avLst/>
          </a:prstGeom>
          <a:noFill/>
        </p:spPr>
        <p:txBody>
          <a:bodyPr wrap="none" rtlCol="0">
            <a:spAutoFit/>
          </a:bodyPr>
          <a:lstStyle/>
          <a:p>
            <a:r>
              <a:rPr lang="en-IN" sz="900" dirty="0">
                <a:solidFill>
                  <a:schemeClr val="accent1">
                    <a:lumMod val="75000"/>
                  </a:schemeClr>
                </a:solidFill>
                <a:latin typeface="Segoe UI" panose="020B0502040204020203" pitchFamily="34" charset="0"/>
                <a:cs typeface="Segoe UI" panose="020B0502040204020203" pitchFamily="34" charset="0"/>
              </a:rPr>
              <a:t>Humility | Entrepreneurship | Teamwork &amp; Respect for Individual | Deliver the Promise | Learning &amp; Inner Excellence | Social Responsibility | Financial Prudence - Frugality    </a:t>
            </a:r>
          </a:p>
        </p:txBody>
      </p:sp>
    </p:spTree>
    <p:extLst>
      <p:ext uri="{BB962C8B-B14F-4D97-AF65-F5344CB8AC3E}">
        <p14:creationId xmlns:p14="http://schemas.microsoft.com/office/powerpoint/2010/main" val="2965506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3" name="Rounded Rectangle 2"/>
          <p:cNvSpPr/>
          <p:nvPr userDrawn="1"/>
        </p:nvSpPr>
        <p:spPr bwMode="auto">
          <a:xfrm>
            <a:off x="0" y="0"/>
            <a:ext cx="12192000" cy="6858000"/>
          </a:xfrm>
          <a:prstGeom prst="roundRect">
            <a:avLst>
              <a:gd name="adj" fmla="val 0"/>
            </a:avLst>
          </a:prstGeom>
          <a:solidFill>
            <a:srgbClr val="154074"/>
          </a:solidFill>
          <a:ln>
            <a:noFill/>
          </a:ln>
        </p:spPr>
        <p:txBody>
          <a:bodyPr lIns="0" tIns="0" rIns="0" bIns="0" rtlCol="0" anchor="ctr"/>
          <a:lstStyle/>
          <a:p>
            <a:pPr algn="ctr"/>
            <a:endParaRPr lang="en-IN"/>
          </a:p>
        </p:txBody>
      </p:sp>
      <p:sp>
        <p:nvSpPr>
          <p:cNvPr id="4" name="TextBox 3">
            <a:extLst>
              <a:ext uri="{FF2B5EF4-FFF2-40B4-BE49-F238E27FC236}">
                <a16:creationId xmlns:a16="http://schemas.microsoft.com/office/drawing/2014/main" id="{0FBAE159-82B2-4C56-A467-37DBD1A44157}"/>
              </a:ext>
            </a:extLst>
          </p:cNvPr>
          <p:cNvSpPr txBox="1"/>
          <p:nvPr userDrawn="1"/>
        </p:nvSpPr>
        <p:spPr>
          <a:xfrm>
            <a:off x="1618588" y="3743412"/>
            <a:ext cx="4523762" cy="1323439"/>
          </a:xfrm>
          <a:prstGeom prst="rect">
            <a:avLst/>
          </a:prstGeom>
          <a:noFill/>
        </p:spPr>
        <p:txBody>
          <a:bodyPr wrap="square" rtlCol="0">
            <a:spAutoFit/>
          </a:bodyPr>
          <a:lstStyle/>
          <a:p>
            <a:r>
              <a:rPr lang="en-US" sz="8000" b="1" spc="300" dirty="0">
                <a:solidFill>
                  <a:schemeClr val="bg1"/>
                </a:solidFill>
                <a:latin typeface="Allura" panose="02000000000000000000" pitchFamily="2" charset="0"/>
                <a:ea typeface="Montserrat" charset="0"/>
                <a:cs typeface="Montserrat" charset="0"/>
              </a:rPr>
              <a:t>Thank you</a:t>
            </a:r>
          </a:p>
        </p:txBody>
      </p:sp>
      <p:cxnSp>
        <p:nvCxnSpPr>
          <p:cNvPr id="5" name="Straight Connector 4">
            <a:extLst>
              <a:ext uri="{FF2B5EF4-FFF2-40B4-BE49-F238E27FC236}">
                <a16:creationId xmlns:a16="http://schemas.microsoft.com/office/drawing/2014/main" id="{F76C4CFE-283C-46F6-A09A-9F9EDB77E2BD}"/>
              </a:ext>
            </a:extLst>
          </p:cNvPr>
          <p:cNvCxnSpPr/>
          <p:nvPr userDrawn="1"/>
        </p:nvCxnSpPr>
        <p:spPr>
          <a:xfrm flipH="1">
            <a:off x="0" y="4576765"/>
            <a:ext cx="167375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392423" y="2226729"/>
            <a:ext cx="7799577" cy="4700071"/>
          </a:xfrm>
          <a:prstGeom prst="rect">
            <a:avLst/>
          </a:prstGeom>
        </p:spPr>
      </p:pic>
    </p:spTree>
    <p:extLst>
      <p:ext uri="{BB962C8B-B14F-4D97-AF65-F5344CB8AC3E}">
        <p14:creationId xmlns:p14="http://schemas.microsoft.com/office/powerpoint/2010/main" val="1268200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Pentagon 3"/>
          <p:cNvSpPr/>
          <p:nvPr userDrawn="1"/>
        </p:nvSpPr>
        <p:spPr bwMode="auto">
          <a:xfrm rot="16200000">
            <a:off x="11485560" y="6447395"/>
            <a:ext cx="409731" cy="411480"/>
          </a:xfrm>
          <a:prstGeom prst="homePlate">
            <a:avLst>
              <a:gd name="adj" fmla="val 28395"/>
            </a:avLst>
          </a:prstGeom>
          <a:gradFill>
            <a:gsLst>
              <a:gs pos="0">
                <a:schemeClr val="accent1"/>
              </a:gs>
              <a:gs pos="100000">
                <a:schemeClr val="accent2"/>
              </a:gs>
            </a:gsLst>
            <a:lin ang="2700000" scaled="0"/>
          </a:gradFill>
          <a:ln>
            <a:noFill/>
          </a:ln>
        </p:spPr>
        <p:txBody>
          <a:bodyPr lIns="0" tIns="0" rIns="0" bIns="0" rtlCol="0" anchor="ctr"/>
          <a:lstStyle/>
          <a:p>
            <a:pPr algn="ctr"/>
            <a:endParaRPr lang="en-US" sz="1100" dirty="0"/>
          </a:p>
        </p:txBody>
      </p:sp>
      <p:sp>
        <p:nvSpPr>
          <p:cNvPr id="5" name="Rectangle 4"/>
          <p:cNvSpPr/>
          <p:nvPr userDrawn="1"/>
        </p:nvSpPr>
        <p:spPr>
          <a:xfrm>
            <a:off x="11514095" y="6537179"/>
            <a:ext cx="351378" cy="261610"/>
          </a:xfrm>
          <a:prstGeom prst="rect">
            <a:avLst/>
          </a:prstGeom>
        </p:spPr>
        <p:txBody>
          <a:bodyPr wrap="none">
            <a:spAutoFit/>
          </a:bodyPr>
          <a:lstStyle/>
          <a:p>
            <a:pPr algn="ctr"/>
            <a:fld id="{260E2A6B-A809-4840-BF14-8648BC0BDF87}" type="slidenum">
              <a:rPr lang="id-ID" sz="1100" b="1" i="0" smtClean="0">
                <a:solidFill>
                  <a:schemeClr val="bg1"/>
                </a:solidFill>
                <a:latin typeface="+mn-lt"/>
                <a:ea typeface="Titillium" charset="0"/>
                <a:cs typeface="Titillium" charset="0"/>
              </a:rPr>
              <a:pPr algn="ctr"/>
              <a:t>‹#›</a:t>
            </a:fld>
            <a:endParaRPr lang="en-US" sz="1100" dirty="0"/>
          </a:p>
        </p:txBody>
      </p:sp>
    </p:spTree>
    <p:extLst>
      <p:ext uri="{BB962C8B-B14F-4D97-AF65-F5344CB8AC3E}">
        <p14:creationId xmlns:p14="http://schemas.microsoft.com/office/powerpoint/2010/main" val="192244681"/>
      </p:ext>
    </p:extLst>
  </p:cSld>
  <p:clrMap bg1="lt1" tx1="dk1" bg2="lt2" tx2="dk2" accent1="accent1" accent2="accent2" accent3="accent3" accent4="accent4" accent5="accent5" accent6="accent6" hlink="hlink" folHlink="folHlink"/>
  <p:sldLayoutIdLst>
    <p:sldLayoutId id="2147483662" r:id="rId1"/>
    <p:sldLayoutId id="2147483660" r:id="rId2"/>
    <p:sldLayoutId id="214748366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nature.com/articles/s41598-024-55991-w" TargetMode="External"/><Relationship Id="rId2" Type="http://schemas.openxmlformats.org/officeDocument/2006/relationships/hyperlink" Target="https://ieeexplore.ieee.org/document/10335179" TargetMode="External"/><Relationship Id="rId1" Type="http://schemas.openxmlformats.org/officeDocument/2006/relationships/slideLayout" Target="../slideLayouts/slideLayout2.xml"/><Relationship Id="rId5" Type="http://schemas.openxmlformats.org/officeDocument/2006/relationships/hyperlink" Target="https://doi.org/10.1007/s13721-025-00623-0" TargetMode="External"/><Relationship Id="rId4" Type="http://schemas.openxmlformats.org/officeDocument/2006/relationships/hyperlink" Target="https://www.nature.com/articles/s41598-025-09957-1"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7424057" y="2390503"/>
            <a:ext cx="4767943" cy="1741826"/>
          </a:xfrm>
          <a:prstGeom prst="rect">
            <a:avLst/>
          </a:prstGeom>
        </p:spPr>
        <p:txBody>
          <a:bodyPr wrap="square" anchor="ctr" anchorCtr="0">
            <a:noAutofit/>
          </a:bodyPr>
          <a:lstStyle>
            <a:lvl1pPr algn="l" defTabSz="914400" rtl="0" eaLnBrk="1" latinLnBrk="0" hangingPunct="1">
              <a:lnSpc>
                <a:spcPct val="90000"/>
              </a:lnSpc>
              <a:spcBef>
                <a:spcPct val="0"/>
              </a:spcBef>
              <a:buNone/>
              <a:defRPr sz="4400" b="0" i="0" kern="1200">
                <a:solidFill>
                  <a:schemeClr val="bg1">
                    <a:lumMod val="50000"/>
                  </a:schemeClr>
                </a:solidFill>
                <a:latin typeface="Neris Thin" panose="00000300000000000000" pitchFamily="50" charset="0"/>
                <a:ea typeface="Gulim" pitchFamily="34" charset="-127"/>
                <a:cs typeface="+mj-cs"/>
              </a:defRPr>
            </a:lvl1pPr>
          </a:lstStyle>
          <a:p>
            <a:pPr>
              <a:lnSpc>
                <a:spcPct val="100000"/>
              </a:lnSpc>
            </a:pPr>
            <a:r>
              <a:rPr lang="en-US" sz="2600" dirty="0">
                <a:solidFill>
                  <a:schemeClr val="tx1"/>
                </a:solidFill>
                <a:latin typeface="Times New Roman" panose="02020603050405020304" pitchFamily="18" charset="0"/>
                <a:cs typeface="Times New Roman" panose="02020603050405020304" pitchFamily="18" charset="0"/>
              </a:rPr>
              <a:t>Comparative Analysis of Classical and Quantum-Assisted Machine Learning Models for Early Heart Disease Prediction</a:t>
            </a:r>
            <a:endParaRPr lang="en-US" sz="2600" b="1" noProof="1">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5" name="Picture 16"/>
          <p:cNvPicPr>
            <a:picLocks noChangeAspect="1" noChangeArrowheads="1"/>
          </p:cNvPicPr>
          <p:nvPr/>
        </p:nvPicPr>
        <p:blipFill>
          <a:blip r:embed="rId2" cstate="print"/>
          <a:srcRect/>
          <a:stretch>
            <a:fillRect/>
          </a:stretch>
        </p:blipFill>
        <p:spPr bwMode="auto">
          <a:xfrm>
            <a:off x="10238886" y="378655"/>
            <a:ext cx="1654175" cy="576263"/>
          </a:xfrm>
          <a:prstGeom prst="rect">
            <a:avLst/>
          </a:prstGeom>
          <a:noFill/>
          <a:ln w="9525">
            <a:noFill/>
            <a:miter lim="800000"/>
            <a:headEnd/>
            <a:tailEnd/>
          </a:ln>
        </p:spPr>
      </p:pic>
    </p:spTree>
    <p:extLst>
      <p:ext uri="{BB962C8B-B14F-4D97-AF65-F5344CB8AC3E}">
        <p14:creationId xmlns:p14="http://schemas.microsoft.com/office/powerpoint/2010/main" val="2015847113"/>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2BC97E-EB05-1118-A8FA-7CEEA15DA0E3}"/>
              </a:ext>
            </a:extLst>
          </p:cNvPr>
          <p:cNvSpPr txBox="1"/>
          <p:nvPr/>
        </p:nvSpPr>
        <p:spPr>
          <a:xfrm>
            <a:off x="323850" y="1579290"/>
            <a:ext cx="11544300" cy="4401205"/>
          </a:xfrm>
          <a:prstGeom prst="rect">
            <a:avLst/>
          </a:prstGeom>
          <a:noFill/>
        </p:spPr>
        <p:txBody>
          <a:bodyPr wrap="square" rtlCol="0">
            <a:spAutoFit/>
          </a:bodyPr>
          <a:lstStyle/>
          <a:p>
            <a:r>
              <a:rPr lang="en-US" sz="2000" b="1" dirty="0">
                <a:solidFill>
                  <a:srgbClr val="004282"/>
                </a:solidFill>
                <a:latin typeface="Times New Roman" panose="02020603050405020304" pitchFamily="18" charset="0"/>
                <a:cs typeface="Times New Roman" panose="02020603050405020304" pitchFamily="18" charset="0"/>
              </a:rPr>
              <a:t> </a:t>
            </a:r>
          </a:p>
          <a:p>
            <a:pPr algn="just"/>
            <a:r>
              <a:rPr lang="en-US" sz="2000" b="1" dirty="0">
                <a:solidFill>
                  <a:srgbClr val="004282"/>
                </a:solidFill>
                <a:latin typeface="Times New Roman" panose="02020603050405020304" pitchFamily="18" charset="0"/>
                <a:cs typeface="Times New Roman" panose="02020603050405020304" pitchFamily="18" charset="0"/>
              </a:rPr>
              <a:t>                      </a:t>
            </a:r>
          </a:p>
          <a:p>
            <a:pPr algn="ctr"/>
            <a:r>
              <a:rPr lang="en-US" sz="2000" b="1" dirty="0">
                <a:solidFill>
                  <a:srgbClr val="004282"/>
                </a:solidFill>
                <a:latin typeface="Times New Roman" panose="02020603050405020304" pitchFamily="18" charset="0"/>
                <a:cs typeface="Times New Roman" panose="02020603050405020304" pitchFamily="18" charset="0"/>
              </a:rPr>
              <a:t>                                          </a:t>
            </a:r>
          </a:p>
          <a:p>
            <a:pPr algn="ctr"/>
            <a:r>
              <a:rPr lang="en-US" sz="2000" b="1" dirty="0">
                <a:solidFill>
                  <a:srgbClr val="004282"/>
                </a:solidFill>
                <a:latin typeface="Times New Roman" panose="02020603050405020304" pitchFamily="18" charset="0"/>
                <a:cs typeface="Times New Roman" panose="02020603050405020304" pitchFamily="18" charset="0"/>
              </a:rPr>
              <a:t>             </a:t>
            </a:r>
          </a:p>
          <a:p>
            <a:pPr algn="ctr"/>
            <a:endParaRPr lang="en-US" sz="2000" b="1" dirty="0">
              <a:solidFill>
                <a:srgbClr val="004282"/>
              </a:solidFill>
              <a:latin typeface="Times New Roman" panose="02020603050405020304" pitchFamily="18" charset="0"/>
              <a:cs typeface="Times New Roman" panose="02020603050405020304" pitchFamily="18" charset="0"/>
            </a:endParaRPr>
          </a:p>
          <a:p>
            <a:pPr algn="ctr"/>
            <a:r>
              <a:rPr lang="en-US" sz="2000" b="1" dirty="0">
                <a:solidFill>
                  <a:srgbClr val="004282"/>
                </a:solidFill>
                <a:latin typeface="Times New Roman" panose="02020603050405020304" pitchFamily="18" charset="0"/>
                <a:cs typeface="Times New Roman" panose="02020603050405020304" pitchFamily="18" charset="0"/>
              </a:rPr>
              <a:t> </a:t>
            </a:r>
          </a:p>
          <a:p>
            <a:pPr algn="ctr"/>
            <a:endParaRPr lang="en-US" sz="2000" b="1" dirty="0">
              <a:solidFill>
                <a:srgbClr val="004282"/>
              </a:solidFill>
              <a:latin typeface="Times New Roman" panose="02020603050405020304" pitchFamily="18" charset="0"/>
              <a:cs typeface="Times New Roman" panose="02020603050405020304" pitchFamily="18" charset="0"/>
            </a:endParaRPr>
          </a:p>
          <a:p>
            <a:pPr algn="ctr"/>
            <a:endParaRPr lang="en-US" sz="2000" b="1" dirty="0">
              <a:solidFill>
                <a:srgbClr val="004282"/>
              </a:solidFill>
              <a:latin typeface="Times New Roman" panose="02020603050405020304" pitchFamily="18" charset="0"/>
              <a:cs typeface="Times New Roman" panose="02020603050405020304" pitchFamily="18" charset="0"/>
            </a:endParaRPr>
          </a:p>
          <a:p>
            <a:pPr algn="ctr"/>
            <a:endParaRPr lang="en-US" sz="2000" b="1" dirty="0">
              <a:solidFill>
                <a:srgbClr val="004282"/>
              </a:solidFill>
              <a:latin typeface="Times New Roman" panose="02020603050405020304" pitchFamily="18" charset="0"/>
              <a:cs typeface="Times New Roman" panose="02020603050405020304" pitchFamily="18" charset="0"/>
            </a:endParaRPr>
          </a:p>
          <a:p>
            <a:pPr algn="ctr"/>
            <a:r>
              <a:rPr lang="en-US" sz="2000" b="1" dirty="0">
                <a:solidFill>
                  <a:srgbClr val="C00000"/>
                </a:solidFill>
                <a:latin typeface="Times New Roman" panose="02020603050405020304" pitchFamily="18" charset="0"/>
                <a:cs typeface="Times New Roman" panose="02020603050405020304" pitchFamily="18" charset="0"/>
              </a:rPr>
              <a:t>Under the guidance of</a:t>
            </a:r>
          </a:p>
          <a:p>
            <a:pPr algn="ctr"/>
            <a:r>
              <a:rPr lang="en-US" sz="2000" b="1" dirty="0">
                <a:solidFill>
                  <a:srgbClr val="00B050"/>
                </a:solidFill>
                <a:latin typeface="Times New Roman" panose="02020603050405020304" pitchFamily="18" charset="0"/>
                <a:cs typeface="Times New Roman" panose="02020603050405020304" pitchFamily="18" charset="0"/>
              </a:rPr>
              <a:t>Dr. V. Vasudha Rani</a:t>
            </a:r>
          </a:p>
          <a:p>
            <a:pPr algn="ctr"/>
            <a:r>
              <a:rPr lang="en-US" sz="2000" b="1" dirty="0">
                <a:solidFill>
                  <a:srgbClr val="00B050"/>
                </a:solidFill>
                <a:latin typeface="Times New Roman" panose="02020603050405020304" pitchFamily="18" charset="0"/>
                <a:cs typeface="Times New Roman" panose="02020603050405020304" pitchFamily="18" charset="0"/>
              </a:rPr>
              <a:t>Associate Professor </a:t>
            </a:r>
          </a:p>
          <a:p>
            <a:pPr algn="ctr"/>
            <a:r>
              <a:rPr lang="en-US" sz="2000" b="1" dirty="0">
                <a:solidFill>
                  <a:srgbClr val="00B050"/>
                </a:solidFill>
                <a:latin typeface="Times New Roman" panose="02020603050405020304" pitchFamily="18" charset="0"/>
                <a:cs typeface="Times New Roman" panose="02020603050405020304" pitchFamily="18" charset="0"/>
              </a:rPr>
              <a:t>GMR Institute of Technology </a:t>
            </a:r>
          </a:p>
          <a:p>
            <a:pPr algn="ctr"/>
            <a:endParaRPr lang="en-US" sz="2000" b="1" dirty="0">
              <a:solidFill>
                <a:srgbClr val="004282"/>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36AF762C-EE28-39D0-2593-D62DD6A866AB}"/>
              </a:ext>
            </a:extLst>
          </p:cNvPr>
          <p:cNvGraphicFramePr>
            <a:graphicFrameLocks noGrp="1"/>
          </p:cNvGraphicFramePr>
          <p:nvPr>
            <p:extLst>
              <p:ext uri="{D42A27DB-BD31-4B8C-83A1-F6EECF244321}">
                <p14:modId xmlns:p14="http://schemas.microsoft.com/office/powerpoint/2010/main" val="409511067"/>
              </p:ext>
            </p:extLst>
          </p:nvPr>
        </p:nvGraphicFramePr>
        <p:xfrm>
          <a:off x="3121232" y="1844040"/>
          <a:ext cx="6929706" cy="1889760"/>
        </p:xfrm>
        <a:graphic>
          <a:graphicData uri="http://schemas.openxmlformats.org/drawingml/2006/table">
            <a:tbl>
              <a:tblPr firstRow="1" bandRow="1">
                <a:tableStyleId>{5C22544A-7EE6-4342-B048-85BDC9FD1C3A}</a:tableStyleId>
              </a:tblPr>
              <a:tblGrid>
                <a:gridCol w="3401251">
                  <a:extLst>
                    <a:ext uri="{9D8B030D-6E8A-4147-A177-3AD203B41FA5}">
                      <a16:colId xmlns:a16="http://schemas.microsoft.com/office/drawing/2014/main" val="731784182"/>
                    </a:ext>
                  </a:extLst>
                </a:gridCol>
                <a:gridCol w="3528455">
                  <a:extLst>
                    <a:ext uri="{9D8B030D-6E8A-4147-A177-3AD203B41FA5}">
                      <a16:colId xmlns:a16="http://schemas.microsoft.com/office/drawing/2014/main" val="355773291"/>
                    </a:ext>
                  </a:extLst>
                </a:gridCol>
              </a:tblGrid>
              <a:tr h="368916">
                <a:tc>
                  <a:txBody>
                    <a:bodyPr/>
                    <a:lstStyle/>
                    <a:p>
                      <a:r>
                        <a:rPr lang="en-US" sz="2000" b="1" dirty="0">
                          <a:solidFill>
                            <a:srgbClr val="004282"/>
                          </a:solidFill>
                          <a:latin typeface="Times New Roman" panose="02020603050405020304" pitchFamily="18" charset="0"/>
                          <a:cs typeface="Times New Roman" panose="02020603050405020304" pitchFamily="18" charset="0"/>
                        </a:rPr>
                        <a:t>V. Venkata Jagan</a:t>
                      </a:r>
                    </a:p>
                    <a:p>
                      <a:r>
                        <a:rPr lang="en-US" sz="2000" b="1" dirty="0">
                          <a:solidFill>
                            <a:srgbClr val="004282"/>
                          </a:solidFill>
                          <a:latin typeface="Times New Roman" panose="02020603050405020304" pitchFamily="18" charset="0"/>
                          <a:cs typeface="Times New Roman" panose="02020603050405020304" pitchFamily="18" charset="0"/>
                        </a:rPr>
                        <a:t>N. Sri Charan</a:t>
                      </a:r>
                      <a:endParaRPr lang="en-IN" sz="2000" dirty="0"/>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solidFill>
                            <a:srgbClr val="004282"/>
                          </a:solidFill>
                          <a:latin typeface="Times New Roman" panose="02020603050405020304" pitchFamily="18" charset="0"/>
                          <a:cs typeface="Times New Roman" panose="02020603050405020304" pitchFamily="18" charset="0"/>
                        </a:rPr>
                        <a:t>(23341A12C5)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solidFill>
                            <a:srgbClr val="004282"/>
                          </a:solidFill>
                          <a:latin typeface="Times New Roman" panose="02020603050405020304" pitchFamily="18" charset="0"/>
                          <a:cs typeface="Times New Roman" panose="02020603050405020304" pitchFamily="18" charset="0"/>
                        </a:rPr>
                        <a:t>(23341A1277)</a:t>
                      </a:r>
                    </a:p>
                  </a:txBody>
                  <a:tcPr>
                    <a:solidFill>
                      <a:schemeClr val="bg1"/>
                    </a:solidFill>
                  </a:tcPr>
                </a:tc>
                <a:extLst>
                  <a:ext uri="{0D108BD9-81ED-4DB2-BD59-A6C34878D82A}">
                    <a16:rowId xmlns:a16="http://schemas.microsoft.com/office/drawing/2014/main" val="681162364"/>
                  </a:ext>
                </a:extLst>
              </a:tr>
              <a:tr h="368916">
                <a:tc>
                  <a:txBody>
                    <a:bodyPr/>
                    <a:lstStyle/>
                    <a:p>
                      <a:r>
                        <a:rPr lang="en-US" sz="2000" b="1" dirty="0">
                          <a:solidFill>
                            <a:srgbClr val="004282"/>
                          </a:solidFill>
                          <a:latin typeface="Times New Roman" panose="02020603050405020304" pitchFamily="18" charset="0"/>
                          <a:cs typeface="Times New Roman" panose="02020603050405020304" pitchFamily="18" charset="0"/>
                        </a:rPr>
                        <a:t>P. Jyothi Prakash</a:t>
                      </a:r>
                      <a:endParaRPr lang="en-IN" sz="2000" dirty="0"/>
                    </a:p>
                  </a:txBody>
                  <a:tcPr>
                    <a:solidFill>
                      <a:schemeClr val="bg1"/>
                    </a:solidFill>
                  </a:tcPr>
                </a:tc>
                <a:tc>
                  <a:txBody>
                    <a:bodyPr/>
                    <a:lstStyle/>
                    <a:p>
                      <a:r>
                        <a:rPr lang="en-US" sz="2000" b="1" dirty="0">
                          <a:solidFill>
                            <a:srgbClr val="004282"/>
                          </a:solidFill>
                          <a:latin typeface="Times New Roman" panose="02020603050405020304" pitchFamily="18" charset="0"/>
                          <a:cs typeface="Times New Roman" panose="02020603050405020304" pitchFamily="18" charset="0"/>
                        </a:rPr>
                        <a:t>(23341A1294) </a:t>
                      </a:r>
                      <a:endParaRPr lang="en-IN" sz="2000" dirty="0"/>
                    </a:p>
                  </a:txBody>
                  <a:tcPr>
                    <a:solidFill>
                      <a:schemeClr val="bg1"/>
                    </a:solidFill>
                  </a:tcPr>
                </a:tc>
                <a:extLst>
                  <a:ext uri="{0D108BD9-81ED-4DB2-BD59-A6C34878D82A}">
                    <a16:rowId xmlns:a16="http://schemas.microsoft.com/office/drawing/2014/main" val="4292101801"/>
                  </a:ext>
                </a:extLst>
              </a:tr>
              <a:tr h="368916">
                <a:tc>
                  <a:txBody>
                    <a:bodyPr/>
                    <a:lstStyle/>
                    <a:p>
                      <a:r>
                        <a:rPr lang="en-US" sz="2000" b="1" dirty="0">
                          <a:solidFill>
                            <a:srgbClr val="004282"/>
                          </a:solidFill>
                          <a:latin typeface="Times New Roman" panose="02020603050405020304" pitchFamily="18" charset="0"/>
                          <a:cs typeface="Times New Roman" panose="02020603050405020304" pitchFamily="18" charset="0"/>
                        </a:rPr>
                        <a:t>P. Srikar</a:t>
                      </a:r>
                      <a:endParaRPr lang="en-IN" sz="2000" dirty="0"/>
                    </a:p>
                  </a:txBody>
                  <a:tcPr>
                    <a:solidFill>
                      <a:schemeClr val="bg1"/>
                    </a:solidFill>
                  </a:tcPr>
                </a:tc>
                <a:tc>
                  <a:txBody>
                    <a:bodyPr/>
                    <a:lstStyle/>
                    <a:p>
                      <a:r>
                        <a:rPr lang="en-US" sz="2000" b="1" dirty="0">
                          <a:solidFill>
                            <a:srgbClr val="004282"/>
                          </a:solidFill>
                          <a:latin typeface="Times New Roman" panose="02020603050405020304" pitchFamily="18" charset="0"/>
                          <a:cs typeface="Times New Roman" panose="02020603050405020304" pitchFamily="18" charset="0"/>
                        </a:rPr>
                        <a:t>(23341A1288) </a:t>
                      </a:r>
                      <a:endParaRPr lang="en-IN" sz="2000" dirty="0"/>
                    </a:p>
                  </a:txBody>
                  <a:tcPr>
                    <a:solidFill>
                      <a:schemeClr val="bg1"/>
                    </a:solidFill>
                  </a:tcPr>
                </a:tc>
                <a:extLst>
                  <a:ext uri="{0D108BD9-81ED-4DB2-BD59-A6C34878D82A}">
                    <a16:rowId xmlns:a16="http://schemas.microsoft.com/office/drawing/2014/main" val="747068104"/>
                  </a:ext>
                </a:extLst>
              </a:tr>
              <a:tr h="368916">
                <a:tc>
                  <a:txBody>
                    <a:bodyPr/>
                    <a:lstStyle/>
                    <a:p>
                      <a:r>
                        <a:rPr lang="en-US" sz="2000" b="1" dirty="0">
                          <a:solidFill>
                            <a:srgbClr val="004282"/>
                          </a:solidFill>
                          <a:latin typeface="Times New Roman" panose="02020603050405020304" pitchFamily="18" charset="0"/>
                          <a:cs typeface="Times New Roman" panose="02020603050405020304" pitchFamily="18" charset="0"/>
                        </a:rPr>
                        <a:t>P. Tirupathi</a:t>
                      </a:r>
                    </a:p>
                  </a:txBody>
                  <a:tcPr>
                    <a:solidFill>
                      <a:schemeClr val="bg1"/>
                    </a:solidFill>
                  </a:tcPr>
                </a:tc>
                <a:tc>
                  <a:txBody>
                    <a:bodyPr/>
                    <a:lstStyle/>
                    <a:p>
                      <a:pPr algn="l"/>
                      <a:r>
                        <a:rPr lang="en-US" sz="2000" b="1" dirty="0">
                          <a:solidFill>
                            <a:srgbClr val="004282"/>
                          </a:solidFill>
                          <a:latin typeface="Times New Roman" panose="02020603050405020304" pitchFamily="18" charset="0"/>
                          <a:cs typeface="Times New Roman" panose="02020603050405020304" pitchFamily="18" charset="0"/>
                        </a:rPr>
                        <a:t>(23341A1291) </a:t>
                      </a:r>
                      <a:endParaRPr lang="en-IN" sz="2000" b="1" dirty="0">
                        <a:solidFill>
                          <a:srgbClr val="004282"/>
                        </a:solidFill>
                        <a:latin typeface="Times New Roman" panose="02020603050405020304" pitchFamily="18" charset="0"/>
                        <a:cs typeface="Times New Roman" panose="02020603050405020304" pitchFamily="18" charset="0"/>
                      </a:endParaRPr>
                    </a:p>
                  </a:txBody>
                  <a:tcPr>
                    <a:solidFill>
                      <a:schemeClr val="bg1"/>
                    </a:solidFill>
                  </a:tcPr>
                </a:tc>
                <a:extLst>
                  <a:ext uri="{0D108BD9-81ED-4DB2-BD59-A6C34878D82A}">
                    <a16:rowId xmlns:a16="http://schemas.microsoft.com/office/drawing/2014/main" val="1911370705"/>
                  </a:ext>
                </a:extLst>
              </a:tr>
            </a:tbl>
          </a:graphicData>
        </a:graphic>
      </p:graphicFrame>
    </p:spTree>
    <p:extLst>
      <p:ext uri="{BB962C8B-B14F-4D97-AF65-F5344CB8AC3E}">
        <p14:creationId xmlns:p14="http://schemas.microsoft.com/office/powerpoint/2010/main" val="33974474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23657E-0693-AFC1-BF22-4A683948D5DE}"/>
              </a:ext>
            </a:extLst>
          </p:cNvPr>
          <p:cNvSpPr txBox="1"/>
          <p:nvPr/>
        </p:nvSpPr>
        <p:spPr>
          <a:xfrm>
            <a:off x="1066466" y="3197544"/>
            <a:ext cx="1861790" cy="579967"/>
          </a:xfrm>
          <a:prstGeom prst="rect">
            <a:avLst/>
          </a:prstGeom>
          <a:noFill/>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Objectives:</a:t>
            </a:r>
            <a:endParaRPr lang="en-US" sz="20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255EB0E-61A9-A056-BDA9-0C4CA1AF6C27}"/>
              </a:ext>
            </a:extLst>
          </p:cNvPr>
          <p:cNvSpPr txBox="1"/>
          <p:nvPr/>
        </p:nvSpPr>
        <p:spPr>
          <a:xfrm>
            <a:off x="1046801" y="3811235"/>
            <a:ext cx="10059063" cy="1938992"/>
          </a:xfrm>
          <a:prstGeom prst="rect">
            <a:avLst/>
          </a:prstGeom>
          <a:noFill/>
        </p:spPr>
        <p:txBody>
          <a:bodyPr wrap="square">
            <a:spAutoFit/>
          </a:bodyPr>
          <a:lstStyle/>
          <a:p>
            <a:pPr marL="342900" indent="-342900">
              <a:buFont typeface="Arial" panose="020B0604020202020204" pitchFamily="34" charset="0"/>
              <a:buChar char="•"/>
            </a:pPr>
            <a:r>
              <a:rPr lang="en-IN" sz="2000" dirty="0"/>
              <a:t>To implement classical machine learning models (Logistic Regression, Random Forest, and SVM) for heart disease prediction</a:t>
            </a:r>
          </a:p>
          <a:p>
            <a:pPr marL="342900" indent="-342900">
              <a:buFont typeface="Arial" panose="020B0604020202020204" pitchFamily="34" charset="0"/>
              <a:buChar char="•"/>
            </a:pPr>
            <a:r>
              <a:rPr lang="en-IN" sz="2000" dirty="0"/>
              <a:t>To design and evaluate quantum-assisted models (QSVM and VQC) using quantum simulators</a:t>
            </a:r>
          </a:p>
          <a:p>
            <a:pPr marL="342900" indent="-342900">
              <a:buFont typeface="Arial" panose="020B0604020202020204" pitchFamily="34" charset="0"/>
              <a:buChar char="•"/>
            </a:pPr>
            <a:r>
              <a:rPr lang="en-IN" sz="2000" dirty="0"/>
              <a:t>To compare classical and quantum-assisted models using standard performance metrics</a:t>
            </a:r>
          </a:p>
          <a:p>
            <a:pPr marL="342900" indent="-342900">
              <a:buFont typeface="Arial" panose="020B0604020202020204" pitchFamily="34" charset="0"/>
              <a:buChar char="•"/>
            </a:pPr>
            <a:r>
              <a:rPr lang="en-IN" sz="2000" dirty="0"/>
              <a:t>To </a:t>
            </a:r>
            <a:r>
              <a:rPr lang="en-IN" sz="2000" dirty="0" err="1"/>
              <a:t>analyze</a:t>
            </a:r>
            <a:r>
              <a:rPr lang="en-IN" sz="2000" dirty="0"/>
              <a:t> the effectiveness of quantum models on reduced feature sets</a:t>
            </a:r>
          </a:p>
        </p:txBody>
      </p:sp>
      <p:sp>
        <p:nvSpPr>
          <p:cNvPr id="3" name="TextBox 2">
            <a:extLst>
              <a:ext uri="{FF2B5EF4-FFF2-40B4-BE49-F238E27FC236}">
                <a16:creationId xmlns:a16="http://schemas.microsoft.com/office/drawing/2014/main" id="{C52AEEC8-446E-8613-6DC8-617F539C061A}"/>
              </a:ext>
            </a:extLst>
          </p:cNvPr>
          <p:cNvSpPr txBox="1"/>
          <p:nvPr/>
        </p:nvSpPr>
        <p:spPr>
          <a:xfrm>
            <a:off x="1066466" y="1294138"/>
            <a:ext cx="1981534" cy="579967"/>
          </a:xfrm>
          <a:prstGeom prst="rect">
            <a:avLst/>
          </a:prstGeom>
          <a:noFill/>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Base paper :</a:t>
            </a:r>
            <a:endParaRPr lang="en-US" sz="20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B99F646-D03B-1010-5F41-A312A3B28F13}"/>
              </a:ext>
            </a:extLst>
          </p:cNvPr>
          <p:cNvSpPr txBox="1"/>
          <p:nvPr/>
        </p:nvSpPr>
        <p:spPr>
          <a:xfrm>
            <a:off x="1066466" y="1874105"/>
            <a:ext cx="10201302" cy="1323439"/>
          </a:xfrm>
          <a:prstGeom prst="rect">
            <a:avLst/>
          </a:prstGeom>
          <a:noFill/>
        </p:spPr>
        <p:txBody>
          <a:bodyPr wrap="square">
            <a:spAutoFit/>
          </a:bodyPr>
          <a:lstStyle/>
          <a:p>
            <a:r>
              <a:rPr lang="en-IN" sz="2000" dirty="0" err="1"/>
              <a:t>Mehroush</a:t>
            </a:r>
            <a:r>
              <a:rPr lang="en-IN" sz="2000" dirty="0"/>
              <a:t> Banday, Sherin Zafar, Parul Agarwal, M. Afshar Alam, Siddhartha Sankar Biswas, Imran Hussain, and K. M. Abubeker,</a:t>
            </a:r>
            <a:br>
              <a:rPr lang="en-IN" sz="2000" dirty="0"/>
            </a:br>
            <a:r>
              <a:rPr lang="en-IN" sz="2000" dirty="0"/>
              <a:t>“Predictive Analysis of Heart Disease Using Quantum-Assisted Machine Learning,” </a:t>
            </a:r>
            <a:r>
              <a:rPr lang="en-IN" sz="2000" i="1" dirty="0"/>
              <a:t>Discover Applied Sciences</a:t>
            </a:r>
            <a:r>
              <a:rPr lang="en-IN" sz="2000" dirty="0"/>
              <a:t>, 2025.</a:t>
            </a:r>
          </a:p>
        </p:txBody>
      </p:sp>
    </p:spTree>
    <p:extLst>
      <p:ext uri="{BB962C8B-B14F-4D97-AF65-F5344CB8AC3E}">
        <p14:creationId xmlns:p14="http://schemas.microsoft.com/office/powerpoint/2010/main" val="2660863908"/>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23657E-0693-AFC1-BF22-4A683948D5DE}"/>
              </a:ext>
            </a:extLst>
          </p:cNvPr>
          <p:cNvSpPr txBox="1"/>
          <p:nvPr/>
        </p:nvSpPr>
        <p:spPr>
          <a:xfrm>
            <a:off x="5323903" y="658244"/>
            <a:ext cx="1343025" cy="579967"/>
          </a:xfrm>
          <a:prstGeom prst="rect">
            <a:avLst/>
          </a:prstGeom>
          <a:noFill/>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Abstract</a:t>
            </a:r>
            <a:endParaRPr lang="en-US" sz="20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255EB0E-61A9-A056-BDA9-0C4CA1AF6C27}"/>
              </a:ext>
            </a:extLst>
          </p:cNvPr>
          <p:cNvSpPr txBox="1"/>
          <p:nvPr/>
        </p:nvSpPr>
        <p:spPr>
          <a:xfrm>
            <a:off x="631370" y="1238211"/>
            <a:ext cx="10929257" cy="5355312"/>
          </a:xfrm>
          <a:prstGeom prst="rect">
            <a:avLst/>
          </a:prstGeom>
          <a:noFill/>
        </p:spPr>
        <p:txBody>
          <a:bodyPr wrap="square">
            <a:spAutoFit/>
          </a:bodyPr>
          <a:lstStyle/>
          <a:p>
            <a:r>
              <a:rPr lang="en-IN" sz="1900" dirty="0">
                <a:latin typeface="Times New Roman" panose="02020603050405020304" pitchFamily="18" charset="0"/>
                <a:cs typeface="Times New Roman" panose="02020603050405020304" pitchFamily="18" charset="0"/>
              </a:rPr>
              <a:t>Heart disease remains a leading cause of mortality worldwide, emphasizing the need for accurate and early risk prediction to support preventive healthcare. While traditional machine learning techniques are widely used for clinical decision-making, their ability to model complex, high-dimensional medical data is often limited. This mini project presents a comparative study of classical and quantum-assisted machine learning models for early heart disease risk prediction. Three classical classifiers—Logistic Regression, Random Forest, and Support Vector Machine (SVM)—are evaluated alongside two quantum-assisted models: the Quantum Support Vector Machine (QSVM). Clinical and demographic data are pre-processed using normalization, feature scaling, and missing-value handling techniques. Quantum models are implemented in simulated quantum environments, where classical features are encoded into quantum states using quantum feature maps and optimized through hybrid classical–quantum learning. Model performance is compared using accuracy, precision, recall, F1-score, and ROC-AUC. Results indicate that Random Forest performs strongly on full feature sets, while quantum-assisted models achieve competitive performance on reduced feature spaces by capturing non-linear feature relationships. In particular, VQC demonstrates stable  </a:t>
            </a:r>
            <a:r>
              <a:rPr lang="en-IN" sz="1900" dirty="0" err="1">
                <a:latin typeface="Times New Roman" panose="02020603050405020304" pitchFamily="18" charset="0"/>
                <a:cs typeface="Times New Roman" panose="02020603050405020304" pitchFamily="18" charset="0"/>
              </a:rPr>
              <a:t>behavior</a:t>
            </a:r>
            <a:r>
              <a:rPr lang="en-IN" sz="1900" dirty="0">
                <a:latin typeface="Times New Roman" panose="02020603050405020304" pitchFamily="18" charset="0"/>
                <a:cs typeface="Times New Roman" panose="02020603050405020304" pitchFamily="18" charset="0"/>
              </a:rPr>
              <a:t> with limited features, whereas QSVM is sensitive to feature encoding strategies. Despite current hardware constraints, this study highlights the potential of quantum-assisted learning as a complementary approach for future intelligent healthcare prediction systems.</a:t>
            </a:r>
          </a:p>
          <a:p>
            <a:pPr algn="just"/>
            <a:endParaRPr lang="en-US" sz="19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IN" sz="2000" b="1" dirty="0"/>
              <a:t>Keywords:</a:t>
            </a:r>
            <a:r>
              <a:rPr lang="en-IN" sz="2000" dirty="0"/>
              <a:t> Heart Disease Prediction; Quantum-Assisted Machine Learning; Logistic Regression; Random Forest; Support Vector Machine; QSVM; VQC; Healthcare Analytics</a:t>
            </a:r>
          </a:p>
        </p:txBody>
      </p:sp>
    </p:spTree>
    <p:extLst>
      <p:ext uri="{BB962C8B-B14F-4D97-AF65-F5344CB8AC3E}">
        <p14:creationId xmlns:p14="http://schemas.microsoft.com/office/powerpoint/2010/main" val="4244288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23657E-0693-AFC1-BF22-4A683948D5DE}"/>
              </a:ext>
            </a:extLst>
          </p:cNvPr>
          <p:cNvSpPr txBox="1"/>
          <p:nvPr/>
        </p:nvSpPr>
        <p:spPr>
          <a:xfrm>
            <a:off x="5108801" y="762007"/>
            <a:ext cx="1974397" cy="579967"/>
          </a:xfrm>
          <a:prstGeom prst="rect">
            <a:avLst/>
          </a:prstGeom>
          <a:noFill/>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Introduction</a:t>
            </a:r>
            <a:endParaRPr lang="en-US" sz="20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255EB0E-61A9-A056-BDA9-0C4CA1AF6C27}"/>
              </a:ext>
            </a:extLst>
          </p:cNvPr>
          <p:cNvSpPr txBox="1"/>
          <p:nvPr/>
        </p:nvSpPr>
        <p:spPr>
          <a:xfrm>
            <a:off x="965885" y="1405982"/>
            <a:ext cx="10059063" cy="5016758"/>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Heart disease is one of the leading causes of death worldwide, making early detection and prevention crucial. Machine learning (ML) techniques such as Logistic Regression, Random Forest, and Support Vector Machines have been widely applied to predict heart disease risk. However, these classical models often face challenges in handling complex medical data and capturing non-linear feature </a:t>
            </a:r>
            <a:r>
              <a:rPr lang="en-US" sz="2000" dirty="0" err="1">
                <a:latin typeface="Times New Roman" panose="02020603050405020304" pitchFamily="18" charset="0"/>
                <a:cs typeface="Times New Roman" panose="02020603050405020304" pitchFamily="18" charset="0"/>
              </a:rPr>
              <a:t>interactions.This</a:t>
            </a:r>
            <a:r>
              <a:rPr lang="en-US" sz="2000" dirty="0">
                <a:latin typeface="Times New Roman" panose="02020603050405020304" pitchFamily="18" charset="0"/>
                <a:cs typeface="Times New Roman" panose="02020603050405020304" pitchFamily="18" charset="0"/>
              </a:rPr>
              <a:t> mini project introduces a </a:t>
            </a:r>
            <a:r>
              <a:rPr lang="en-US" sz="2000" b="1" dirty="0">
                <a:latin typeface="Times New Roman" panose="02020603050405020304" pitchFamily="18" charset="0"/>
                <a:cs typeface="Times New Roman" panose="02020603050405020304" pitchFamily="18" charset="0"/>
              </a:rPr>
              <a:t>quantum-assisted machine learning framework</a:t>
            </a:r>
            <a:r>
              <a:rPr lang="en-US" sz="2000" dirty="0">
                <a:latin typeface="Times New Roman" panose="02020603050405020304" pitchFamily="18" charset="0"/>
                <a:cs typeface="Times New Roman" panose="02020603050405020304" pitchFamily="18" charset="0"/>
              </a:rPr>
              <a:t> for heart disease prediction. In addition to classical ML classifiers, quantum-inspired models like the </a:t>
            </a:r>
            <a:r>
              <a:rPr lang="en-US" sz="2000" b="1" dirty="0">
                <a:latin typeface="Times New Roman" panose="02020603050405020304" pitchFamily="18" charset="0"/>
                <a:cs typeface="Times New Roman" panose="02020603050405020304" pitchFamily="18" charset="0"/>
              </a:rPr>
              <a:t>Quantum Support Vector Machine (QSVM)</a:t>
            </a:r>
            <a:r>
              <a:rPr lang="en-US" sz="2000" dirty="0">
                <a:latin typeface="Times New Roman" panose="02020603050405020304" pitchFamily="18" charset="0"/>
                <a:cs typeface="Times New Roman" panose="02020603050405020304" pitchFamily="18" charset="0"/>
              </a:rPr>
              <a:t> are implemented using a publicly available heart disease dataset. Data preprocessing steps—normalization, scaling, and handling missing values—are applied to ensure reliable </a:t>
            </a:r>
            <a:r>
              <a:rPr lang="en-US" sz="2000" dirty="0" err="1">
                <a:latin typeface="Times New Roman" panose="02020603050405020304" pitchFamily="18" charset="0"/>
                <a:cs typeface="Times New Roman" panose="02020603050405020304" pitchFamily="18" charset="0"/>
              </a:rPr>
              <a:t>performance.Classical</a:t>
            </a:r>
            <a:r>
              <a:rPr lang="en-US" sz="2000" dirty="0">
                <a:latin typeface="Times New Roman" panose="02020603050405020304" pitchFamily="18" charset="0"/>
                <a:cs typeface="Times New Roman" panose="02020603050405020304" pitchFamily="18" charset="0"/>
              </a:rPr>
              <a:t> features are encoded into quantum states through quantum feature maps, and optimization is carried out using classical optimizers on quantum simulators. Model performance is assessed using accuracy, precision, recall, F1-score, and ROC-</a:t>
            </a:r>
            <a:r>
              <a:rPr lang="en-US" sz="2000" dirty="0" err="1">
                <a:latin typeface="Times New Roman" panose="02020603050405020304" pitchFamily="18" charset="0"/>
                <a:cs typeface="Times New Roman" panose="02020603050405020304" pitchFamily="18" charset="0"/>
              </a:rPr>
              <a:t>AUC.The</a:t>
            </a:r>
            <a:r>
              <a:rPr lang="en-US" sz="2000" dirty="0">
                <a:latin typeface="Times New Roman" panose="02020603050405020304" pitchFamily="18" charset="0"/>
                <a:cs typeface="Times New Roman" panose="02020603050405020304" pitchFamily="18" charset="0"/>
              </a:rPr>
              <a:t> results show that quantum-assisted classifiers can effectively capture complex feature relationships and achieve competitive performance, even with fewer features. While current quantum hardware imposes limitations, this project highlights the potential of quantum-assisted approaches to enhance future healthcare prediction systems.</a:t>
            </a:r>
          </a:p>
        </p:txBody>
      </p:sp>
    </p:spTree>
    <p:extLst>
      <p:ext uri="{BB962C8B-B14F-4D97-AF65-F5344CB8AC3E}">
        <p14:creationId xmlns:p14="http://schemas.microsoft.com/office/powerpoint/2010/main" val="2835649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D9172-0063-0503-63E5-3FD2CD89806A}"/>
              </a:ext>
            </a:extLst>
          </p:cNvPr>
          <p:cNvSpPr>
            <a:spLocks noGrp="1"/>
          </p:cNvSpPr>
          <p:nvPr>
            <p:ph type="title"/>
          </p:nvPr>
        </p:nvSpPr>
        <p:spPr>
          <a:xfrm>
            <a:off x="1066468" y="1"/>
            <a:ext cx="10059063" cy="873125"/>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123657E-0693-AFC1-BF22-4A683948D5DE}"/>
              </a:ext>
            </a:extLst>
          </p:cNvPr>
          <p:cNvSpPr txBox="1"/>
          <p:nvPr/>
        </p:nvSpPr>
        <p:spPr>
          <a:xfrm>
            <a:off x="5237728" y="1019705"/>
            <a:ext cx="1716542" cy="579967"/>
          </a:xfrm>
          <a:prstGeom prst="rect">
            <a:avLst/>
          </a:prstGeom>
          <a:noFill/>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Reference 1</a:t>
            </a:r>
            <a:endParaRPr lang="en-US" sz="20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255EB0E-61A9-A056-BDA9-0C4CA1AF6C27}"/>
              </a:ext>
            </a:extLst>
          </p:cNvPr>
          <p:cNvSpPr txBox="1"/>
          <p:nvPr/>
        </p:nvSpPr>
        <p:spPr>
          <a:xfrm>
            <a:off x="718456" y="1746251"/>
            <a:ext cx="10755086" cy="4653646"/>
          </a:xfrm>
          <a:prstGeom prst="rect">
            <a:avLst/>
          </a:prstGeom>
          <a:noFill/>
        </p:spPr>
        <p:txBody>
          <a:bodyPr wrap="square">
            <a:spAutoFit/>
          </a:bodyPr>
          <a:lstStyle/>
          <a:p>
            <a:pPr algn="just">
              <a:lnSpc>
                <a:spcPct val="150000"/>
              </a:lnSpc>
            </a:pPr>
            <a:r>
              <a:rPr lang="en-IN" sz="2000" b="1" dirty="0">
                <a:effectLst/>
                <a:latin typeface="Times New Roman" panose="02020603050405020304" pitchFamily="18" charset="0"/>
                <a:ea typeface="Times New Roman" panose="02020603050405020304" pitchFamily="18" charset="0"/>
                <a:cs typeface="Times New Roman" panose="02020603050405020304" pitchFamily="18" charset="0"/>
              </a:rPr>
              <a:t>Title: </a:t>
            </a:r>
            <a:r>
              <a:rPr lang="en-US" sz="2000" dirty="0">
                <a:latin typeface="Times New Roman" panose="02020603050405020304" pitchFamily="18" charset="0"/>
                <a:cs typeface="Times New Roman" panose="02020603050405020304" pitchFamily="18" charset="0"/>
              </a:rPr>
              <a:t>A hybrid framework for heart disease prediction using classical and quantum-inspired machine learning techniques </a:t>
            </a:r>
          </a:p>
          <a:p>
            <a:pPr algn="just">
              <a:lnSpc>
                <a:spcPct val="150000"/>
              </a:lnSpc>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Authors: </a:t>
            </a:r>
            <a:r>
              <a:rPr lang="en-IN" sz="2000" dirty="0">
                <a:latin typeface="Times New Roman" panose="02020603050405020304" pitchFamily="18" charset="0"/>
                <a:cs typeface="Times New Roman" panose="02020603050405020304" pitchFamily="18" charset="0"/>
              </a:rPr>
              <a:t> .Author names: Ankur Kumar, Sanjay </a:t>
            </a:r>
            <a:r>
              <a:rPr lang="en-IN" sz="2000" dirty="0" err="1">
                <a:latin typeface="Times New Roman" panose="02020603050405020304" pitchFamily="18" charset="0"/>
                <a:cs typeface="Times New Roman" panose="02020603050405020304" pitchFamily="18" charset="0"/>
              </a:rPr>
              <a:t>Dhanka</a:t>
            </a:r>
            <a:r>
              <a:rPr lang="en-IN" sz="2000" dirty="0">
                <a:latin typeface="Times New Roman" panose="02020603050405020304" pitchFamily="18" charset="0"/>
                <a:cs typeface="Times New Roman" panose="02020603050405020304" pitchFamily="18" charset="0"/>
              </a:rPr>
              <a:t>, Abhinav Sharma, Rohit Bansal, </a:t>
            </a:r>
            <a:r>
              <a:rPr lang="en-IN" sz="2000" dirty="0" err="1">
                <a:latin typeface="Times New Roman" panose="02020603050405020304" pitchFamily="18" charset="0"/>
                <a:cs typeface="Times New Roman" panose="02020603050405020304" pitchFamily="18" charset="0"/>
              </a:rPr>
              <a:t>Mochammad</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Fahlevi</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Fazla</a:t>
            </a:r>
            <a:r>
              <a:rPr lang="en-IN" sz="2000" dirty="0">
                <a:latin typeface="Times New Roman" panose="02020603050405020304" pitchFamily="18" charset="0"/>
                <a:cs typeface="Times New Roman" panose="02020603050405020304" pitchFamily="18" charset="0"/>
              </a:rPr>
              <a:t> Rabby, and Mohammed </a:t>
            </a:r>
            <a:r>
              <a:rPr lang="en-IN" sz="2000" dirty="0" err="1">
                <a:latin typeface="Times New Roman" panose="02020603050405020304" pitchFamily="18" charset="0"/>
                <a:cs typeface="Times New Roman" panose="02020603050405020304" pitchFamily="18" charset="0"/>
              </a:rPr>
              <a:t>Aljuaid</a:t>
            </a:r>
            <a:r>
              <a:rPr lang="en-IN" sz="2000" dirty="0">
                <a:latin typeface="Times New Roman" panose="02020603050405020304" pitchFamily="18" charset="0"/>
                <a:cs typeface="Times New Roman" panose="02020603050405020304" pitchFamily="18" charset="0"/>
              </a:rPr>
              <a:t>  .</a:t>
            </a:r>
          </a:p>
          <a:p>
            <a:pPr algn="just">
              <a:lnSpc>
                <a:spcPct val="150000"/>
              </a:lnSpc>
            </a:pPr>
            <a:r>
              <a:rPr lang="en-IN" sz="2000" b="1" dirty="0">
                <a:effectLst/>
                <a:latin typeface="Times New Roman" panose="02020603050405020304" pitchFamily="18" charset="0"/>
                <a:ea typeface="Times New Roman" panose="02020603050405020304" pitchFamily="18" charset="0"/>
                <a:cs typeface="Times New Roman" panose="02020603050405020304" pitchFamily="18" charset="0"/>
              </a:rPr>
              <a:t>Year </a:t>
            </a: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of publication: </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2025</a:t>
            </a:r>
          </a:p>
          <a:p>
            <a:pPr algn="just">
              <a:lnSpc>
                <a:spcPct val="150000"/>
              </a:lnSpc>
            </a:pPr>
            <a:r>
              <a:rPr lang="en-IN" sz="2000" b="1" dirty="0">
                <a:effectLst/>
                <a:latin typeface="Times New Roman" panose="02020603050405020304" pitchFamily="18" charset="0"/>
                <a:ea typeface="Times New Roman" panose="02020603050405020304" pitchFamily="18" charset="0"/>
                <a:cs typeface="Times New Roman" panose="02020603050405020304" pitchFamily="18" charset="0"/>
              </a:rPr>
              <a:t>Objective</a:t>
            </a: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 develop a novel hybrid framework that combines classical and quantum-inspired machine learning techniques for heart disease prediction.</a:t>
            </a:r>
          </a:p>
          <a:p>
            <a:pPr algn="just">
              <a:lnSpc>
                <a:spcPct val="150000"/>
              </a:lnSpc>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Research gaps</a:t>
            </a: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Existing heart disease prediction models often struggle with large numbers of features, which reduce interpretability, increase computational cost, and can lower accuracy.</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999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D9172-0063-0503-63E5-3FD2CD89806A}"/>
              </a:ext>
            </a:extLst>
          </p:cNvPr>
          <p:cNvSpPr>
            <a:spLocks noGrp="1"/>
          </p:cNvSpPr>
          <p:nvPr>
            <p:ph type="title"/>
          </p:nvPr>
        </p:nvSpPr>
        <p:spPr>
          <a:xfrm>
            <a:off x="1066468" y="1"/>
            <a:ext cx="10059063" cy="873125"/>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123657E-0693-AFC1-BF22-4A683948D5DE}"/>
              </a:ext>
            </a:extLst>
          </p:cNvPr>
          <p:cNvSpPr txBox="1"/>
          <p:nvPr/>
        </p:nvSpPr>
        <p:spPr>
          <a:xfrm>
            <a:off x="5237728" y="1019705"/>
            <a:ext cx="1716542" cy="579967"/>
          </a:xfrm>
          <a:prstGeom prst="rect">
            <a:avLst/>
          </a:prstGeom>
          <a:noFill/>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Reference 2</a:t>
            </a:r>
            <a:endParaRPr lang="en-US" sz="20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255EB0E-61A9-A056-BDA9-0C4CA1AF6C27}"/>
              </a:ext>
            </a:extLst>
          </p:cNvPr>
          <p:cNvSpPr txBox="1"/>
          <p:nvPr/>
        </p:nvSpPr>
        <p:spPr>
          <a:xfrm>
            <a:off x="718456" y="1746251"/>
            <a:ext cx="10755086" cy="4653646"/>
          </a:xfrm>
          <a:prstGeom prst="rect">
            <a:avLst/>
          </a:prstGeom>
          <a:noFill/>
        </p:spPr>
        <p:txBody>
          <a:bodyPr wrap="square">
            <a:spAutoFit/>
          </a:bodyPr>
          <a:lstStyle/>
          <a:p>
            <a:pPr algn="just">
              <a:lnSpc>
                <a:spcPct val="150000"/>
              </a:lnSpc>
            </a:pPr>
            <a:r>
              <a:rPr lang="en-IN" sz="2000" b="1" dirty="0">
                <a:effectLst/>
                <a:latin typeface="Times New Roman" panose="02020603050405020304" pitchFamily="18" charset="0"/>
                <a:ea typeface="Times New Roman" panose="02020603050405020304" pitchFamily="18" charset="0"/>
                <a:cs typeface="Times New Roman" panose="02020603050405020304" pitchFamily="18" charset="0"/>
              </a:rPr>
              <a:t>Title: </a:t>
            </a:r>
            <a:r>
              <a:rPr lang="en-US" sz="2000" dirty="0">
                <a:latin typeface="Times New Roman" panose="02020603050405020304" pitchFamily="18" charset="0"/>
                <a:cs typeface="Times New Roman" panose="02020603050405020304" pitchFamily="18" charset="0"/>
              </a:rPr>
              <a:t>Comparative analysis of heart disease prediction using logistic regression, SVM, KNN, and random forest with cross-validation for improved accuracy </a:t>
            </a:r>
          </a:p>
          <a:p>
            <a:pPr algn="just">
              <a:lnSpc>
                <a:spcPct val="150000"/>
              </a:lnSpc>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Authors: </a:t>
            </a:r>
            <a:r>
              <a:rPr lang="es-ES" sz="2000" dirty="0" err="1">
                <a:latin typeface="Times New Roman" panose="02020603050405020304" pitchFamily="18" charset="0"/>
                <a:cs typeface="Times New Roman" panose="02020603050405020304" pitchFamily="18" charset="0"/>
              </a:rPr>
              <a:t>Yagyanath</a:t>
            </a:r>
            <a:r>
              <a:rPr lang="es-ES" sz="2000" dirty="0">
                <a:latin typeface="Times New Roman" panose="02020603050405020304" pitchFamily="18" charset="0"/>
                <a:cs typeface="Times New Roman" panose="02020603050405020304" pitchFamily="18" charset="0"/>
              </a:rPr>
              <a:t> </a:t>
            </a:r>
            <a:r>
              <a:rPr lang="es-ES" sz="2000" dirty="0" err="1">
                <a:latin typeface="Times New Roman" panose="02020603050405020304" pitchFamily="18" charset="0"/>
                <a:cs typeface="Times New Roman" panose="02020603050405020304" pitchFamily="18" charset="0"/>
              </a:rPr>
              <a:t>Rimal</a:t>
            </a:r>
            <a:r>
              <a:rPr lang="es-ES" sz="2000" dirty="0">
                <a:latin typeface="Times New Roman" panose="02020603050405020304" pitchFamily="18" charset="0"/>
                <a:cs typeface="Times New Roman" panose="02020603050405020304" pitchFamily="18" charset="0"/>
              </a:rPr>
              <a:t>, Navneet Sharma, Siddhartha </a:t>
            </a:r>
            <a:r>
              <a:rPr lang="es-ES" sz="2000" dirty="0" err="1">
                <a:latin typeface="Times New Roman" panose="02020603050405020304" pitchFamily="18" charset="0"/>
                <a:cs typeface="Times New Roman" panose="02020603050405020304" pitchFamily="18" charset="0"/>
              </a:rPr>
              <a:t>Paudel</a:t>
            </a:r>
            <a:r>
              <a:rPr lang="es-ES" sz="2000" dirty="0">
                <a:latin typeface="Times New Roman" panose="02020603050405020304" pitchFamily="18" charset="0"/>
                <a:cs typeface="Times New Roman" panose="02020603050405020304" pitchFamily="18" charset="0"/>
              </a:rPr>
              <a:t>, </a:t>
            </a:r>
            <a:r>
              <a:rPr lang="es-ES" sz="2000" dirty="0" err="1">
                <a:latin typeface="Times New Roman" panose="02020603050405020304" pitchFamily="18" charset="0"/>
                <a:cs typeface="Times New Roman" panose="02020603050405020304" pitchFamily="18" charset="0"/>
              </a:rPr>
              <a:t>Abeer</a:t>
            </a:r>
            <a:r>
              <a:rPr lang="es-ES" sz="2000" dirty="0">
                <a:latin typeface="Times New Roman" panose="02020603050405020304" pitchFamily="18" charset="0"/>
                <a:cs typeface="Times New Roman" panose="02020603050405020304" pitchFamily="18" charset="0"/>
              </a:rPr>
              <a:t> </a:t>
            </a:r>
            <a:r>
              <a:rPr lang="es-ES" sz="2000" dirty="0" err="1">
                <a:latin typeface="Times New Roman" panose="02020603050405020304" pitchFamily="18" charset="0"/>
                <a:cs typeface="Times New Roman" panose="02020603050405020304" pitchFamily="18" charset="0"/>
              </a:rPr>
              <a:t>Alsadoon</a:t>
            </a:r>
            <a:r>
              <a:rPr lang="es-ES" sz="2000" dirty="0">
                <a:latin typeface="Times New Roman" panose="02020603050405020304" pitchFamily="18" charset="0"/>
                <a:cs typeface="Times New Roman" panose="02020603050405020304" pitchFamily="18" charset="0"/>
              </a:rPr>
              <a:t>, </a:t>
            </a:r>
            <a:r>
              <a:rPr lang="es-ES" sz="2000" dirty="0" err="1">
                <a:latin typeface="Times New Roman" panose="02020603050405020304" pitchFamily="18" charset="0"/>
                <a:cs typeface="Times New Roman" panose="02020603050405020304" pitchFamily="18" charset="0"/>
              </a:rPr>
              <a:t>Madhav</a:t>
            </a:r>
            <a:r>
              <a:rPr lang="es-ES" sz="2000" dirty="0">
                <a:latin typeface="Times New Roman" panose="02020603050405020304" pitchFamily="18" charset="0"/>
                <a:cs typeface="Times New Roman" panose="02020603050405020304" pitchFamily="18" charset="0"/>
              </a:rPr>
              <a:t> </a:t>
            </a:r>
            <a:r>
              <a:rPr lang="es-ES" sz="2000" dirty="0" err="1">
                <a:latin typeface="Times New Roman" panose="02020603050405020304" pitchFamily="18" charset="0"/>
                <a:cs typeface="Times New Roman" panose="02020603050405020304" pitchFamily="18" charset="0"/>
              </a:rPr>
              <a:t>Parsad</a:t>
            </a:r>
            <a:r>
              <a:rPr lang="es-ES" sz="2000" dirty="0">
                <a:latin typeface="Times New Roman" panose="02020603050405020304" pitchFamily="18" charset="0"/>
                <a:cs typeface="Times New Roman" panose="02020603050405020304" pitchFamily="18" charset="0"/>
              </a:rPr>
              <a:t> </a:t>
            </a:r>
            <a:r>
              <a:rPr lang="es-ES" sz="2000" dirty="0" err="1">
                <a:latin typeface="Times New Roman" panose="02020603050405020304" pitchFamily="18" charset="0"/>
                <a:cs typeface="Times New Roman" panose="02020603050405020304" pitchFamily="18" charset="0"/>
              </a:rPr>
              <a:t>Koirala</a:t>
            </a:r>
            <a:r>
              <a:rPr lang="es-ES" sz="2000" dirty="0">
                <a:latin typeface="Times New Roman" panose="02020603050405020304" pitchFamily="18" charset="0"/>
                <a:cs typeface="Times New Roman" panose="02020603050405020304" pitchFamily="18" charset="0"/>
              </a:rPr>
              <a:t>, and </a:t>
            </a:r>
            <a:r>
              <a:rPr lang="es-ES" sz="2000" dirty="0" err="1">
                <a:latin typeface="Times New Roman" panose="02020603050405020304" pitchFamily="18" charset="0"/>
                <a:cs typeface="Times New Roman" panose="02020603050405020304" pitchFamily="18" charset="0"/>
              </a:rPr>
              <a:t>Sumeet</a:t>
            </a:r>
            <a:r>
              <a:rPr lang="es-ES" sz="2000" dirty="0">
                <a:latin typeface="Times New Roman" panose="02020603050405020304" pitchFamily="18" charset="0"/>
                <a:cs typeface="Times New Roman" panose="02020603050405020304" pitchFamily="18" charset="0"/>
              </a:rPr>
              <a:t> Gill</a:t>
            </a:r>
          </a:p>
          <a:p>
            <a:pPr algn="just">
              <a:lnSpc>
                <a:spcPct val="150000"/>
              </a:lnSpc>
            </a:pPr>
            <a:r>
              <a:rPr lang="en-IN" sz="2000" b="1" dirty="0">
                <a:effectLst/>
                <a:latin typeface="Times New Roman" panose="02020603050405020304" pitchFamily="18" charset="0"/>
                <a:ea typeface="Times New Roman" panose="02020603050405020304" pitchFamily="18" charset="0"/>
                <a:cs typeface="Times New Roman" panose="02020603050405020304" pitchFamily="18" charset="0"/>
              </a:rPr>
              <a:t>Year </a:t>
            </a: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of publication: </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2025</a:t>
            </a:r>
          </a:p>
          <a:p>
            <a:pPr algn="just">
              <a:lnSpc>
                <a:spcPct val="150000"/>
              </a:lnSpc>
            </a:pPr>
            <a:r>
              <a:rPr lang="en-IN" sz="2000" b="1" dirty="0">
                <a:effectLst/>
                <a:latin typeface="Times New Roman" panose="02020603050405020304" pitchFamily="18" charset="0"/>
                <a:ea typeface="Times New Roman" panose="02020603050405020304" pitchFamily="18" charset="0"/>
                <a:cs typeface="Times New Roman" panose="02020603050405020304" pitchFamily="18" charset="0"/>
              </a:rPr>
              <a:t>Objective</a:t>
            </a: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 preprocess an open heart disease dataset using imputation for numerical (mean) and categorical (chi-square-based) features and normalization.</a:t>
            </a:r>
          </a:p>
          <a:p>
            <a:pPr algn="just">
              <a:lnSpc>
                <a:spcPct val="150000"/>
              </a:lnSpc>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Research gaps</a:t>
            </a: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Optimal validation strategies (especially systematic cross-validation) for robust heart disease prediction models are still underexplored in the literature.</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1611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D9172-0063-0503-63E5-3FD2CD89806A}"/>
              </a:ext>
            </a:extLst>
          </p:cNvPr>
          <p:cNvSpPr>
            <a:spLocks noGrp="1"/>
          </p:cNvSpPr>
          <p:nvPr>
            <p:ph type="title"/>
          </p:nvPr>
        </p:nvSpPr>
        <p:spPr>
          <a:xfrm>
            <a:off x="1066468" y="1"/>
            <a:ext cx="10059063" cy="873125"/>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123657E-0693-AFC1-BF22-4A683948D5DE}"/>
              </a:ext>
            </a:extLst>
          </p:cNvPr>
          <p:cNvSpPr txBox="1"/>
          <p:nvPr/>
        </p:nvSpPr>
        <p:spPr>
          <a:xfrm>
            <a:off x="5237728" y="1019705"/>
            <a:ext cx="1716542" cy="579967"/>
          </a:xfrm>
          <a:prstGeom prst="rect">
            <a:avLst/>
          </a:prstGeom>
          <a:noFill/>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Reference 3</a:t>
            </a:r>
            <a:endParaRPr lang="en-US" sz="20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255EB0E-61A9-A056-BDA9-0C4CA1AF6C27}"/>
              </a:ext>
            </a:extLst>
          </p:cNvPr>
          <p:cNvSpPr txBox="1"/>
          <p:nvPr/>
        </p:nvSpPr>
        <p:spPr>
          <a:xfrm>
            <a:off x="718456" y="1599672"/>
            <a:ext cx="10755086" cy="4191981"/>
          </a:xfrm>
          <a:prstGeom prst="rect">
            <a:avLst/>
          </a:prstGeom>
          <a:noFill/>
        </p:spPr>
        <p:txBody>
          <a:bodyPr wrap="square">
            <a:spAutoFit/>
          </a:bodyPr>
          <a:lstStyle/>
          <a:p>
            <a:pPr algn="just">
              <a:lnSpc>
                <a:spcPct val="150000"/>
              </a:lnSpc>
            </a:pPr>
            <a:r>
              <a:rPr lang="en-IN" sz="2000" b="1" dirty="0">
                <a:effectLst/>
                <a:latin typeface="Times New Roman" panose="02020603050405020304" pitchFamily="18" charset="0"/>
                <a:ea typeface="Times New Roman" panose="02020603050405020304" pitchFamily="18" charset="0"/>
                <a:cs typeface="Times New Roman" panose="02020603050405020304" pitchFamily="18" charset="0"/>
              </a:rPr>
              <a:t>Title: </a:t>
            </a:r>
            <a:r>
              <a:rPr lang="en-US" sz="2000" dirty="0" err="1">
                <a:latin typeface="Times New Roman" panose="02020603050405020304" pitchFamily="18" charset="0"/>
                <a:cs typeface="Times New Roman" panose="02020603050405020304" pitchFamily="18" charset="0"/>
              </a:rPr>
              <a:t>QuCardio</a:t>
            </a:r>
            <a:r>
              <a:rPr lang="en-US" sz="2000" dirty="0">
                <a:latin typeface="Times New Roman" panose="02020603050405020304" pitchFamily="18" charset="0"/>
                <a:cs typeface="Times New Roman" panose="02020603050405020304" pitchFamily="18" charset="0"/>
              </a:rPr>
              <a:t>: Application of Quantum Machine Learning for Detection of Cardiovascular Diseases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Authors: </a:t>
            </a:r>
            <a:r>
              <a:rPr lang="en-IN" sz="2000" dirty="0">
                <a:latin typeface="Times New Roman" panose="02020603050405020304" pitchFamily="18" charset="0"/>
                <a:cs typeface="Times New Roman" panose="02020603050405020304" pitchFamily="18" charset="0"/>
              </a:rPr>
              <a:t>Sharanya Prabhu, Shourya Gupta, Gautham </a:t>
            </a:r>
            <a:r>
              <a:rPr lang="en-IN" sz="2000" dirty="0" err="1">
                <a:latin typeface="Times New Roman" panose="02020603050405020304" pitchFamily="18" charset="0"/>
                <a:cs typeface="Times New Roman" panose="02020603050405020304" pitchFamily="18" charset="0"/>
              </a:rPr>
              <a:t>Manuru</a:t>
            </a:r>
            <a:r>
              <a:rPr lang="en-IN" sz="2000" dirty="0">
                <a:latin typeface="Times New Roman" panose="02020603050405020304" pitchFamily="18" charset="0"/>
                <a:cs typeface="Times New Roman" panose="02020603050405020304" pitchFamily="18" charset="0"/>
              </a:rPr>
              <a:t> Prabhu, Aarushi Vishal </a:t>
            </a:r>
            <a:r>
              <a:rPr lang="en-IN" sz="2000" dirty="0" err="1">
                <a:latin typeface="Times New Roman" panose="02020603050405020304" pitchFamily="18" charset="0"/>
                <a:cs typeface="Times New Roman" panose="02020603050405020304" pitchFamily="18" charset="0"/>
              </a:rPr>
              <a:t>Dhanuka</a:t>
            </a:r>
            <a:r>
              <a:rPr lang="en-IN" sz="2000" dirty="0">
                <a:latin typeface="Times New Roman" panose="02020603050405020304" pitchFamily="18" charset="0"/>
                <a:cs typeface="Times New Roman" panose="02020603050405020304" pitchFamily="18" charset="0"/>
              </a:rPr>
              <a:t>, and K. Vivekananda Bhat </a:t>
            </a:r>
          </a:p>
          <a:p>
            <a:pPr algn="just">
              <a:lnSpc>
                <a:spcPct val="150000"/>
              </a:lnSpc>
            </a:pPr>
            <a:r>
              <a:rPr lang="en-IN" sz="2000" b="1" dirty="0">
                <a:effectLst/>
                <a:latin typeface="Times New Roman" panose="02020603050405020304" pitchFamily="18" charset="0"/>
                <a:ea typeface="Times New Roman" panose="02020603050405020304" pitchFamily="18" charset="0"/>
                <a:cs typeface="Times New Roman" panose="02020603050405020304" pitchFamily="18" charset="0"/>
              </a:rPr>
              <a:t>Year </a:t>
            </a: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of publication: </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2025</a:t>
            </a:r>
          </a:p>
          <a:p>
            <a:pPr algn="just">
              <a:lnSpc>
                <a:spcPct val="150000"/>
              </a:lnSpc>
            </a:pPr>
            <a:r>
              <a:rPr lang="en-IN" sz="2000" b="1" dirty="0">
                <a:effectLst/>
                <a:latin typeface="Times New Roman" panose="02020603050405020304" pitchFamily="18" charset="0"/>
                <a:ea typeface="Times New Roman" panose="02020603050405020304" pitchFamily="18" charset="0"/>
                <a:cs typeface="Times New Roman" panose="02020603050405020304" pitchFamily="18" charset="0"/>
              </a:rPr>
              <a:t>Objective</a:t>
            </a: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 design Quantum Machine Learning models for multi-class classification of cardiovascular diseases using ECG images.</a:t>
            </a:r>
          </a:p>
          <a:p>
            <a:pPr algn="just">
              <a:lnSpc>
                <a:spcPct val="150000"/>
              </a:lnSpc>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Research gaps</a:t>
            </a: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Limited prior work on using QML for multi-class classification of cardiovascular diseases, especially on ECG image data.</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6984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D9172-0063-0503-63E5-3FD2CD89806A}"/>
              </a:ext>
            </a:extLst>
          </p:cNvPr>
          <p:cNvSpPr>
            <a:spLocks noGrp="1"/>
          </p:cNvSpPr>
          <p:nvPr>
            <p:ph type="title"/>
          </p:nvPr>
        </p:nvSpPr>
        <p:spPr>
          <a:xfrm>
            <a:off x="1066468" y="1"/>
            <a:ext cx="10059063" cy="873125"/>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123657E-0693-AFC1-BF22-4A683948D5DE}"/>
              </a:ext>
            </a:extLst>
          </p:cNvPr>
          <p:cNvSpPr txBox="1"/>
          <p:nvPr/>
        </p:nvSpPr>
        <p:spPr>
          <a:xfrm>
            <a:off x="5237728" y="1019705"/>
            <a:ext cx="1716542" cy="579967"/>
          </a:xfrm>
          <a:prstGeom prst="rect">
            <a:avLst/>
          </a:prstGeom>
          <a:noFill/>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Reference 4</a:t>
            </a:r>
            <a:endParaRPr lang="en-US" sz="20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255EB0E-61A9-A056-BDA9-0C4CA1AF6C27}"/>
              </a:ext>
            </a:extLst>
          </p:cNvPr>
          <p:cNvSpPr txBox="1"/>
          <p:nvPr/>
        </p:nvSpPr>
        <p:spPr>
          <a:xfrm>
            <a:off x="718456" y="1723952"/>
            <a:ext cx="10755086" cy="4653646"/>
          </a:xfrm>
          <a:prstGeom prst="rect">
            <a:avLst/>
          </a:prstGeom>
          <a:noFill/>
        </p:spPr>
        <p:txBody>
          <a:bodyPr wrap="square">
            <a:spAutoFit/>
          </a:bodyPr>
          <a:lstStyle/>
          <a:p>
            <a:pPr algn="just">
              <a:lnSpc>
                <a:spcPct val="150000"/>
              </a:lnSpc>
            </a:pPr>
            <a:r>
              <a:rPr lang="en-IN" sz="2000" b="1" dirty="0">
                <a:effectLst/>
                <a:latin typeface="Times New Roman" panose="02020603050405020304" pitchFamily="18" charset="0"/>
                <a:ea typeface="Times New Roman" panose="02020603050405020304" pitchFamily="18" charset="0"/>
                <a:cs typeface="Times New Roman" panose="02020603050405020304" pitchFamily="18" charset="0"/>
              </a:rPr>
              <a:t>Title: </a:t>
            </a:r>
            <a:r>
              <a:rPr lang="en-IN" sz="2000" dirty="0" err="1">
                <a:latin typeface="Times New Roman" panose="02020603050405020304" pitchFamily="18" charset="0"/>
                <a:cs typeface="Times New Roman" panose="02020603050405020304" pitchFamily="18" charset="0"/>
              </a:rPr>
              <a:t>QuantumK-meansclusteringmethodfordetectingheartdisease</a:t>
            </a:r>
            <a:r>
              <a:rPr lang="en-IN" sz="2000" dirty="0">
                <a:latin typeface="Times New Roman" panose="02020603050405020304" pitchFamily="18" charset="0"/>
                <a:cs typeface="Times New Roman" panose="02020603050405020304" pitchFamily="18" charset="0"/>
              </a:rPr>
              <a:t> using </a:t>
            </a:r>
            <a:r>
              <a:rPr lang="en-IN" sz="2000" dirty="0" err="1">
                <a:latin typeface="Times New Roman" panose="02020603050405020304" pitchFamily="18" charset="0"/>
                <a:cs typeface="Times New Roman" panose="02020603050405020304" pitchFamily="18" charset="0"/>
              </a:rPr>
              <a:t>quantumcircuit</a:t>
            </a:r>
            <a:r>
              <a:rPr lang="en-IN" sz="2000" dirty="0">
                <a:latin typeface="Times New Roman" panose="02020603050405020304" pitchFamily="18" charset="0"/>
                <a:cs typeface="Times New Roman" panose="02020603050405020304" pitchFamily="18" charset="0"/>
              </a:rPr>
              <a:t> approach</a:t>
            </a:r>
            <a:r>
              <a:rPr lang="en-US" sz="2000" dirty="0">
                <a:latin typeface="Times New Roman" panose="02020603050405020304" pitchFamily="18" charset="0"/>
                <a:cs typeface="Times New Roman" panose="02020603050405020304" pitchFamily="18" charset="0"/>
              </a:rPr>
              <a:t> </a:t>
            </a:r>
          </a:p>
          <a:p>
            <a:pPr algn="just">
              <a:lnSpc>
                <a:spcPct val="150000"/>
              </a:lnSpc>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Authors: </a:t>
            </a:r>
            <a:r>
              <a:rPr lang="pt-BR" sz="2000" dirty="0"/>
              <a:t>S S Kavitha1 · Narasimha Kaulgud1</a:t>
            </a:r>
          </a:p>
          <a:p>
            <a:pPr algn="just">
              <a:lnSpc>
                <a:spcPct val="150000"/>
              </a:lnSpc>
            </a:pPr>
            <a:r>
              <a:rPr lang="en-IN" sz="2000" b="1" dirty="0">
                <a:effectLst/>
                <a:latin typeface="Times New Roman" panose="02020603050405020304" pitchFamily="18" charset="0"/>
                <a:ea typeface="Times New Roman" panose="02020603050405020304" pitchFamily="18" charset="0"/>
                <a:cs typeface="Times New Roman" panose="02020603050405020304" pitchFamily="18" charset="0"/>
              </a:rPr>
              <a:t>Year </a:t>
            </a: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of publication: </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2025</a:t>
            </a:r>
          </a:p>
          <a:p>
            <a:pPr algn="just">
              <a:lnSpc>
                <a:spcPct val="150000"/>
              </a:lnSpc>
            </a:pPr>
            <a:r>
              <a:rPr lang="en-IN" sz="2000" b="1" dirty="0">
                <a:effectLst/>
                <a:latin typeface="Times New Roman" panose="02020603050405020304" pitchFamily="18" charset="0"/>
                <a:ea typeface="Times New Roman" panose="02020603050405020304" pitchFamily="18" charset="0"/>
                <a:cs typeface="Times New Roman" panose="02020603050405020304" pitchFamily="18" charset="0"/>
              </a:rPr>
              <a:t>Objective</a:t>
            </a: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 propose and evaluate Quantum Enhanced Machine Learning (</a:t>
            </a:r>
            <a:r>
              <a:rPr lang="en-US" sz="2000" dirty="0" err="1">
                <a:latin typeface="Times New Roman" panose="02020603050405020304" pitchFamily="18" charset="0"/>
                <a:cs typeface="Times New Roman" panose="02020603050405020304" pitchFamily="18" charset="0"/>
              </a:rPr>
              <a:t>QuEML</a:t>
            </a:r>
            <a:r>
              <a:rPr lang="en-US" sz="2000" dirty="0">
                <a:latin typeface="Times New Roman" panose="02020603050405020304" pitchFamily="18" charset="0"/>
                <a:cs typeface="Times New Roman" panose="02020603050405020304" pitchFamily="18" charset="0"/>
              </a:rPr>
              <a:t>) methods for heart disease prediction.</a:t>
            </a:r>
          </a:p>
          <a:p>
            <a:pPr algn="just">
              <a:lnSpc>
                <a:spcPct val="150000"/>
              </a:lnSpc>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Research gaps</a:t>
            </a: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Classical ML approaches for heart disease diagnosis face computational bottlenecks on larger or more complex data.</a:t>
            </a:r>
          </a:p>
          <a:p>
            <a:pPr marL="342900" indent="-342900">
              <a:lnSpc>
                <a:spcPct val="150000"/>
              </a:lnSpc>
              <a:buFont typeface="Arial" panose="020B0604020202020204" pitchFamily="34" charset="0"/>
              <a:buChar char="•"/>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Limited work systematically studies quantum‑enhanced ML for heart disease prediction on tabular clinical datasets.</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3798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D9172-0063-0503-63E5-3FD2CD89806A}"/>
              </a:ext>
            </a:extLst>
          </p:cNvPr>
          <p:cNvSpPr>
            <a:spLocks noGrp="1"/>
          </p:cNvSpPr>
          <p:nvPr>
            <p:ph type="title"/>
          </p:nvPr>
        </p:nvSpPr>
        <p:spPr>
          <a:xfrm>
            <a:off x="1066468" y="1"/>
            <a:ext cx="10059063" cy="873125"/>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123657E-0693-AFC1-BF22-4A683948D5DE}"/>
              </a:ext>
            </a:extLst>
          </p:cNvPr>
          <p:cNvSpPr txBox="1"/>
          <p:nvPr/>
        </p:nvSpPr>
        <p:spPr>
          <a:xfrm>
            <a:off x="5237728" y="1019705"/>
            <a:ext cx="1716542" cy="579967"/>
          </a:xfrm>
          <a:prstGeom prst="rect">
            <a:avLst/>
          </a:prstGeom>
          <a:noFill/>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Reference 5</a:t>
            </a:r>
            <a:endParaRPr lang="en-US" sz="20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255EB0E-61A9-A056-BDA9-0C4CA1AF6C27}"/>
              </a:ext>
            </a:extLst>
          </p:cNvPr>
          <p:cNvSpPr txBox="1"/>
          <p:nvPr/>
        </p:nvSpPr>
        <p:spPr>
          <a:xfrm>
            <a:off x="718456" y="1723952"/>
            <a:ext cx="10755086" cy="4653646"/>
          </a:xfrm>
          <a:prstGeom prst="rect">
            <a:avLst/>
          </a:prstGeom>
          <a:noFill/>
        </p:spPr>
        <p:txBody>
          <a:bodyPr wrap="square">
            <a:spAutoFit/>
          </a:bodyPr>
          <a:lstStyle/>
          <a:p>
            <a:pPr algn="just">
              <a:lnSpc>
                <a:spcPct val="150000"/>
              </a:lnSpc>
            </a:pPr>
            <a:r>
              <a:rPr lang="en-IN" sz="2000" b="1" dirty="0">
                <a:effectLst/>
                <a:latin typeface="Times New Roman" panose="02020603050405020304" pitchFamily="18" charset="0"/>
                <a:ea typeface="Times New Roman" panose="02020603050405020304" pitchFamily="18" charset="0"/>
                <a:cs typeface="Times New Roman" panose="02020603050405020304" pitchFamily="18" charset="0"/>
              </a:rPr>
              <a:t>Title: </a:t>
            </a:r>
            <a:r>
              <a:rPr lang="en-US" sz="2000" dirty="0">
                <a:latin typeface="Times New Roman" panose="02020603050405020304" pitchFamily="18" charset="0"/>
                <a:cs typeface="Times New Roman" panose="02020603050405020304" pitchFamily="18" charset="0"/>
              </a:rPr>
              <a:t>Revolutionizing heart disease prediction with quantum‑enhanced machine learning </a:t>
            </a:r>
          </a:p>
          <a:p>
            <a:pPr algn="just">
              <a:lnSpc>
                <a:spcPct val="150000"/>
              </a:lnSpc>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Authors: </a:t>
            </a:r>
            <a:r>
              <a:rPr lang="en-IN" sz="2000" dirty="0">
                <a:latin typeface="Times New Roman" panose="02020603050405020304" pitchFamily="18" charset="0"/>
                <a:cs typeface="Times New Roman" panose="02020603050405020304" pitchFamily="18" charset="0"/>
              </a:rPr>
              <a:t>S. Venkatesh Babu, P. Ramya, and </a:t>
            </a:r>
            <a:r>
              <a:rPr lang="en-IN" sz="2000" dirty="0" err="1">
                <a:latin typeface="Times New Roman" panose="02020603050405020304" pitchFamily="18" charset="0"/>
                <a:cs typeface="Times New Roman" panose="02020603050405020304" pitchFamily="18" charset="0"/>
              </a:rPr>
              <a:t>Jeffin</a:t>
            </a:r>
            <a:r>
              <a:rPr lang="en-IN" sz="2000" dirty="0">
                <a:latin typeface="Times New Roman" panose="02020603050405020304" pitchFamily="18" charset="0"/>
                <a:cs typeface="Times New Roman" panose="02020603050405020304" pitchFamily="18" charset="0"/>
              </a:rPr>
              <a:t> Gracewell</a:t>
            </a:r>
          </a:p>
          <a:p>
            <a:pPr algn="just">
              <a:lnSpc>
                <a:spcPct val="150000"/>
              </a:lnSpc>
            </a:pPr>
            <a:r>
              <a:rPr lang="en-IN" sz="2000" b="1" dirty="0">
                <a:effectLst/>
                <a:latin typeface="Times New Roman" panose="02020603050405020304" pitchFamily="18" charset="0"/>
                <a:ea typeface="Times New Roman" panose="02020603050405020304" pitchFamily="18" charset="0"/>
                <a:cs typeface="Times New Roman" panose="02020603050405020304" pitchFamily="18" charset="0"/>
              </a:rPr>
              <a:t>Year </a:t>
            </a: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of publication: </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2025</a:t>
            </a:r>
          </a:p>
          <a:p>
            <a:pPr algn="just">
              <a:lnSpc>
                <a:spcPct val="150000"/>
              </a:lnSpc>
            </a:pPr>
            <a:r>
              <a:rPr lang="en-IN" sz="2000" b="1" dirty="0">
                <a:effectLst/>
                <a:latin typeface="Times New Roman" panose="02020603050405020304" pitchFamily="18" charset="0"/>
                <a:ea typeface="Times New Roman" panose="02020603050405020304" pitchFamily="18" charset="0"/>
                <a:cs typeface="Times New Roman" panose="02020603050405020304" pitchFamily="18" charset="0"/>
              </a:rPr>
              <a:t>Objective</a:t>
            </a: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 design and evaluate Quantum Enhanced Machine Learning (</a:t>
            </a:r>
            <a:r>
              <a:rPr lang="en-US" sz="2000" dirty="0" err="1">
                <a:latin typeface="Times New Roman" panose="02020603050405020304" pitchFamily="18" charset="0"/>
                <a:cs typeface="Times New Roman" panose="02020603050405020304" pitchFamily="18" charset="0"/>
              </a:rPr>
              <a:t>QuEML</a:t>
            </a:r>
            <a:r>
              <a:rPr lang="en-US" sz="2000" dirty="0">
                <a:latin typeface="Times New Roman" panose="02020603050405020304" pitchFamily="18" charset="0"/>
                <a:cs typeface="Times New Roman" panose="02020603050405020304" pitchFamily="18" charset="0"/>
              </a:rPr>
              <a:t>) models for heart disease prediction.</a:t>
            </a:r>
          </a:p>
          <a:p>
            <a:pPr algn="just">
              <a:lnSpc>
                <a:spcPct val="150000"/>
              </a:lnSpc>
            </a:pPr>
            <a:r>
              <a:rPr lang="en-US" sz="2000" dirty="0">
                <a:latin typeface="Times New Roman" panose="02020603050405020304" pitchFamily="18" charset="0"/>
                <a:cs typeface="Times New Roman" panose="02020603050405020304" pitchFamily="18" charset="0"/>
              </a:rPr>
              <a:t>To compare </a:t>
            </a:r>
            <a:r>
              <a:rPr lang="en-US" sz="2000" dirty="0" err="1">
                <a:latin typeface="Times New Roman" panose="02020603050405020304" pitchFamily="18" charset="0"/>
                <a:cs typeface="Times New Roman" panose="02020603050405020304" pitchFamily="18" charset="0"/>
              </a:rPr>
              <a:t>QuEML</a:t>
            </a:r>
            <a:r>
              <a:rPr lang="en-US" sz="2000" dirty="0">
                <a:latin typeface="Times New Roman" panose="02020603050405020304" pitchFamily="18" charset="0"/>
                <a:cs typeface="Times New Roman" panose="02020603050405020304" pitchFamily="18" charset="0"/>
              </a:rPr>
              <a:t> with traditional ML algorithms on the Kaggle heart disease dataset (1190 samples; 53% positive, 47% negative).</a:t>
            </a:r>
          </a:p>
          <a:p>
            <a:pPr algn="just">
              <a:lnSpc>
                <a:spcPct val="150000"/>
              </a:lnSpc>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Research gaps</a:t>
            </a: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Classical ML models for heart disease suffer from computational bottlenecks on large and complex datasets.</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6953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523A2-6E0F-D27C-5E24-AEAB5DFB0EE3}"/>
              </a:ext>
            </a:extLst>
          </p:cNvPr>
          <p:cNvSpPr>
            <a:spLocks noGrp="1"/>
          </p:cNvSpPr>
          <p:nvPr>
            <p:ph type="title"/>
          </p:nvPr>
        </p:nvSpPr>
        <p:spPr/>
        <p:txBody>
          <a:bodyPr/>
          <a:lstStyle/>
          <a:p>
            <a:r>
              <a:rPr lang="en-US" dirty="0"/>
              <a:t>Literature Survey</a:t>
            </a:r>
          </a:p>
        </p:txBody>
      </p:sp>
      <p:sp>
        <p:nvSpPr>
          <p:cNvPr id="3" name="TextBox 2">
            <a:extLst>
              <a:ext uri="{FF2B5EF4-FFF2-40B4-BE49-F238E27FC236}">
                <a16:creationId xmlns:a16="http://schemas.microsoft.com/office/drawing/2014/main" id="{7B4A2644-AE89-35B9-A981-07DE71C8B9AC}"/>
              </a:ext>
            </a:extLst>
          </p:cNvPr>
          <p:cNvSpPr txBox="1"/>
          <p:nvPr/>
        </p:nvSpPr>
        <p:spPr>
          <a:xfrm>
            <a:off x="4949072" y="910930"/>
            <a:ext cx="1724383"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Reference 6</a:t>
            </a:r>
          </a:p>
        </p:txBody>
      </p:sp>
      <p:sp>
        <p:nvSpPr>
          <p:cNvPr id="4" name="TextBox 3">
            <a:extLst>
              <a:ext uri="{FF2B5EF4-FFF2-40B4-BE49-F238E27FC236}">
                <a16:creationId xmlns:a16="http://schemas.microsoft.com/office/drawing/2014/main" id="{9714162F-FF7B-0E3E-AF38-3FCE59B50F14}"/>
              </a:ext>
            </a:extLst>
          </p:cNvPr>
          <p:cNvSpPr txBox="1"/>
          <p:nvPr/>
        </p:nvSpPr>
        <p:spPr>
          <a:xfrm>
            <a:off x="527901" y="1548082"/>
            <a:ext cx="11378152" cy="4653646"/>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Title: </a:t>
            </a:r>
            <a:r>
              <a:rPr lang="en-US" sz="2000" dirty="0">
                <a:latin typeface="Times New Roman" panose="02020603050405020304" pitchFamily="18" charset="0"/>
                <a:cs typeface="Times New Roman" panose="02020603050405020304" pitchFamily="18" charset="0"/>
              </a:rPr>
              <a:t>Title: Heart Disease Prediction Using </a:t>
            </a:r>
            <a:r>
              <a:rPr lang="en-US" sz="2000" dirty="0" err="1">
                <a:latin typeface="Times New Roman" panose="02020603050405020304" pitchFamily="18" charset="0"/>
                <a:cs typeface="Times New Roman" panose="02020603050405020304" pitchFamily="18" charset="0"/>
              </a:rPr>
              <a:t>GridSearchCV</a:t>
            </a:r>
            <a:r>
              <a:rPr lang="en-US" sz="2000" dirty="0">
                <a:latin typeface="Times New Roman" panose="02020603050405020304" pitchFamily="18" charset="0"/>
                <a:cs typeface="Times New Roman" panose="02020603050405020304" pitchFamily="18" charset="0"/>
              </a:rPr>
              <a:t> and Random Forest </a:t>
            </a:r>
          </a:p>
          <a:p>
            <a:pPr>
              <a:lnSpc>
                <a:spcPct val="150000"/>
              </a:lnSpc>
            </a:pPr>
            <a:r>
              <a:rPr lang="en-US" sz="2000" b="1" dirty="0">
                <a:latin typeface="Times New Roman" panose="02020603050405020304" pitchFamily="18" charset="0"/>
                <a:cs typeface="Times New Roman" panose="02020603050405020304" pitchFamily="18" charset="0"/>
              </a:rPr>
              <a:t>Authors: </a:t>
            </a:r>
            <a:r>
              <a:rPr lang="en-US" sz="2000" dirty="0">
                <a:latin typeface="Times New Roman" panose="02020603050405020304" pitchFamily="18" charset="0"/>
                <a:cs typeface="Times New Roman" panose="02020603050405020304" pitchFamily="18" charset="0"/>
              </a:rPr>
              <a:t>Shagufta Rasheed, G Kiran Kumar, D Malathi Rani, MVV Prasad </a:t>
            </a:r>
            <a:r>
              <a:rPr lang="en-US" sz="2000" dirty="0" err="1">
                <a:latin typeface="Times New Roman" panose="02020603050405020304" pitchFamily="18" charset="0"/>
                <a:cs typeface="Times New Roman" panose="02020603050405020304" pitchFamily="18" charset="0"/>
              </a:rPr>
              <a:t>Kantipudi</a:t>
            </a:r>
            <a:r>
              <a:rPr lang="en-US" sz="2000" dirty="0">
                <a:latin typeface="Times New Roman" panose="02020603050405020304" pitchFamily="18" charset="0"/>
                <a:cs typeface="Times New Roman" panose="02020603050405020304" pitchFamily="18" charset="0"/>
              </a:rPr>
              <a:t>, and Anila M </a:t>
            </a:r>
          </a:p>
          <a:p>
            <a:pPr>
              <a:lnSpc>
                <a:spcPct val="150000"/>
              </a:lnSpc>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Year of Publication:</a:t>
            </a:r>
            <a:r>
              <a:rPr lang="en-US" sz="2000" dirty="0">
                <a:latin typeface="Times New Roman" panose="02020603050405020304" pitchFamily="18" charset="0"/>
                <a:cs typeface="Times New Roman" panose="02020603050405020304" pitchFamily="18" charset="0"/>
              </a:rPr>
              <a:t>2019</a:t>
            </a:r>
          </a:p>
          <a:p>
            <a:pPr>
              <a:lnSpc>
                <a:spcPct val="150000"/>
              </a:lnSpc>
            </a:pPr>
            <a:r>
              <a:rPr lang="en-US" sz="2000" b="1" dirty="0">
                <a:latin typeface="Times New Roman" panose="02020603050405020304" pitchFamily="18" charset="0"/>
                <a:cs typeface="Times New Roman" panose="02020603050405020304" pitchFamily="18" charset="0"/>
              </a:rPr>
              <a:t>Objective:</a:t>
            </a:r>
          </a:p>
          <a:p>
            <a:pPr>
              <a:lnSpc>
                <a:spcPct val="150000"/>
              </a:lnSpc>
            </a:pPr>
            <a:r>
              <a:rPr lang="en-US" sz="2000" dirty="0">
                <a:latin typeface="Times New Roman" panose="02020603050405020304" pitchFamily="18" charset="0"/>
                <a:cs typeface="Times New Roman" panose="02020603050405020304" pitchFamily="18" charset="0"/>
              </a:rPr>
              <a:t>To evaluate machine learning algorithms (SVM, AdaBoost, Logistic Regression, Naive Bayes, Random Forest) for heart disease prediction using cardiovascular and clinical data from Kaggle.</a:t>
            </a:r>
          </a:p>
          <a:p>
            <a:pPr>
              <a:lnSpc>
                <a:spcPct val="150000"/>
              </a:lnSpc>
            </a:pPr>
            <a:r>
              <a:rPr lang="en-US" sz="2000" b="1" dirty="0">
                <a:latin typeface="Times New Roman" panose="02020603050405020304" pitchFamily="18" charset="0"/>
                <a:cs typeface="Times New Roman" panose="02020603050405020304" pitchFamily="18" charset="0"/>
              </a:rPr>
              <a:t>Research Gaps: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Existing ML models often struggle with high-dimensional/complex datasets and lack optimal hyperparameter tuning for heart disease prediction</a:t>
            </a:r>
          </a:p>
          <a:p>
            <a:pPr marL="342900" indent="-342900">
              <a:lnSpc>
                <a:spcPct val="150000"/>
              </a:lnSpc>
              <a:buFont typeface="Arial" panose="020B0604020202020204" pitchFamily="34" charset="0"/>
              <a:buChar char="•"/>
            </a:pPr>
            <a:r>
              <a:rPr lang="fr-FR" sz="2000" dirty="0">
                <a:latin typeface="Times New Roman" panose="02020603050405020304" pitchFamily="18" charset="0"/>
                <a:cs typeface="Times New Roman" panose="02020603050405020304" pitchFamily="18" charset="0"/>
              </a:rPr>
              <a:t>multiple </a:t>
            </a:r>
            <a:r>
              <a:rPr lang="fr-FR" sz="2000" dirty="0" err="1">
                <a:latin typeface="Times New Roman" panose="02020603050405020304" pitchFamily="18" charset="0"/>
                <a:cs typeface="Times New Roman" panose="02020603050405020304" pitchFamily="18" charset="0"/>
              </a:rPr>
              <a:t>classifiers</a:t>
            </a:r>
            <a:r>
              <a:rPr lang="fr-FR" sz="2000" dirty="0">
                <a:latin typeface="Times New Roman" panose="02020603050405020304" pitchFamily="18" charset="0"/>
                <a:cs typeface="Times New Roman" panose="02020603050405020304" pitchFamily="18" charset="0"/>
              </a:rPr>
              <a:t> (SVM, </a:t>
            </a:r>
            <a:r>
              <a:rPr lang="fr-FR" sz="2000" dirty="0" err="1">
                <a:latin typeface="Times New Roman" panose="02020603050405020304" pitchFamily="18" charset="0"/>
                <a:cs typeface="Times New Roman" panose="02020603050405020304" pitchFamily="18" charset="0"/>
              </a:rPr>
              <a:t>AdaBoost</a:t>
            </a:r>
            <a:r>
              <a:rPr lang="fr-FR" sz="2000" dirty="0">
                <a:latin typeface="Times New Roman" panose="02020603050405020304" pitchFamily="18" charset="0"/>
                <a:cs typeface="Times New Roman" panose="02020603050405020304" pitchFamily="18" charset="0"/>
              </a:rPr>
              <a:t>, etc.)</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1167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E8060-3EB6-509E-00B6-35A2C48F1F79}"/>
              </a:ext>
            </a:extLst>
          </p:cNvPr>
          <p:cNvSpPr>
            <a:spLocks noGrp="1"/>
          </p:cNvSpPr>
          <p:nvPr>
            <p:ph type="title"/>
          </p:nvPr>
        </p:nvSpPr>
        <p:spPr/>
        <p:txBody>
          <a:bodyPr/>
          <a:lstStyle/>
          <a:p>
            <a:r>
              <a:rPr lang="en-US" dirty="0"/>
              <a:t>Literature Survey</a:t>
            </a:r>
          </a:p>
        </p:txBody>
      </p:sp>
      <p:sp>
        <p:nvSpPr>
          <p:cNvPr id="3" name="TextBox 2">
            <a:extLst>
              <a:ext uri="{FF2B5EF4-FFF2-40B4-BE49-F238E27FC236}">
                <a16:creationId xmlns:a16="http://schemas.microsoft.com/office/drawing/2014/main" id="{93466DC0-2A64-E1FC-3291-E25A9317BF44}"/>
              </a:ext>
            </a:extLst>
          </p:cNvPr>
          <p:cNvSpPr txBox="1"/>
          <p:nvPr/>
        </p:nvSpPr>
        <p:spPr>
          <a:xfrm>
            <a:off x="4788816" y="984201"/>
            <a:ext cx="1724383"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Reference 7</a:t>
            </a:r>
          </a:p>
        </p:txBody>
      </p:sp>
      <p:sp>
        <p:nvSpPr>
          <p:cNvPr id="4" name="TextBox 3">
            <a:extLst>
              <a:ext uri="{FF2B5EF4-FFF2-40B4-BE49-F238E27FC236}">
                <a16:creationId xmlns:a16="http://schemas.microsoft.com/office/drawing/2014/main" id="{7E2487F5-88BD-5003-7EEB-88EE1544C334}"/>
              </a:ext>
            </a:extLst>
          </p:cNvPr>
          <p:cNvSpPr txBox="1"/>
          <p:nvPr/>
        </p:nvSpPr>
        <p:spPr>
          <a:xfrm>
            <a:off x="477907" y="1362908"/>
            <a:ext cx="11447283" cy="5115311"/>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Title: </a:t>
            </a:r>
            <a:r>
              <a:rPr lang="en-US" sz="2000" dirty="0">
                <a:latin typeface="Times New Roman" panose="02020603050405020304" pitchFamily="18" charset="0"/>
                <a:cs typeface="Times New Roman" panose="02020603050405020304" pitchFamily="18" charset="0"/>
              </a:rPr>
              <a:t> Heart Disease Prediction Using Machine Learning Techniques</a:t>
            </a:r>
          </a:p>
          <a:p>
            <a:pPr>
              <a:lnSpc>
                <a:spcPct val="150000"/>
              </a:lnSpc>
            </a:pPr>
            <a:r>
              <a:rPr lang="en-US" sz="2000" b="1" dirty="0">
                <a:latin typeface="Times New Roman" panose="02020603050405020304" pitchFamily="18" charset="0"/>
                <a:cs typeface="Times New Roman" panose="02020603050405020304" pitchFamily="18" charset="0"/>
              </a:rPr>
              <a:t>Authors: </a:t>
            </a:r>
            <a:r>
              <a:rPr lang="en-US" sz="2000" dirty="0">
                <a:latin typeface="Times New Roman" panose="02020603050405020304" pitchFamily="18" charset="0"/>
                <a:cs typeface="Times New Roman" panose="02020603050405020304" pitchFamily="18" charset="0"/>
              </a:rPr>
              <a:t>Yash </a:t>
            </a:r>
            <a:r>
              <a:rPr lang="en-US" sz="2000" dirty="0" err="1">
                <a:latin typeface="Times New Roman" panose="02020603050405020304" pitchFamily="18" charset="0"/>
                <a:cs typeface="Times New Roman" panose="02020603050405020304" pitchFamily="18" charset="0"/>
              </a:rPr>
              <a:t>Urkude</a:t>
            </a:r>
            <a:r>
              <a:rPr lang="en-US" sz="2000" dirty="0">
                <a:latin typeface="Times New Roman" panose="02020603050405020304" pitchFamily="18" charset="0"/>
                <a:cs typeface="Times New Roman" panose="02020603050405020304" pitchFamily="18" charset="0"/>
              </a:rPr>
              <a:t>, Abhay Thakare, Pratiksha </a:t>
            </a:r>
            <a:r>
              <a:rPr lang="en-US" sz="2000" dirty="0" err="1">
                <a:latin typeface="Times New Roman" panose="02020603050405020304" pitchFamily="18" charset="0"/>
                <a:cs typeface="Times New Roman" panose="02020603050405020304" pitchFamily="18" charset="0"/>
              </a:rPr>
              <a:t>Nimbokar</a:t>
            </a:r>
            <a:r>
              <a:rPr lang="en-US" sz="2000" dirty="0">
                <a:latin typeface="Times New Roman" panose="02020603050405020304" pitchFamily="18" charset="0"/>
                <a:cs typeface="Times New Roman" panose="02020603050405020304" pitchFamily="18" charset="0"/>
              </a:rPr>
              <a:t>, Smita Rathod, and Gaurav </a:t>
            </a:r>
            <a:r>
              <a:rPr lang="en-US" sz="2000" dirty="0" err="1">
                <a:latin typeface="Times New Roman" panose="02020603050405020304" pitchFamily="18" charset="0"/>
                <a:cs typeface="Times New Roman" panose="02020603050405020304" pitchFamily="18" charset="0"/>
              </a:rPr>
              <a:t>Sawale</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Year of Publication:</a:t>
            </a:r>
            <a:r>
              <a:rPr lang="en-US" sz="2000" dirty="0">
                <a:latin typeface="Times New Roman" panose="02020603050405020304" pitchFamily="18" charset="0"/>
                <a:cs typeface="Times New Roman" panose="02020603050405020304" pitchFamily="18" charset="0"/>
              </a:rPr>
              <a:t>2022</a:t>
            </a:r>
          </a:p>
          <a:p>
            <a:pPr>
              <a:lnSpc>
                <a:spcPct val="150000"/>
              </a:lnSpc>
            </a:pPr>
            <a:r>
              <a:rPr lang="en-US" sz="2000" b="1" dirty="0">
                <a:latin typeface="Times New Roman" panose="02020603050405020304" pitchFamily="18" charset="0"/>
                <a:cs typeface="Times New Roman" panose="02020603050405020304" pitchFamily="18" charset="0"/>
              </a:rPr>
              <a:t>Objective:</a:t>
            </a:r>
          </a:p>
          <a:p>
            <a:pPr>
              <a:lnSpc>
                <a:spcPct val="150000"/>
              </a:lnSpc>
            </a:pPr>
            <a:r>
              <a:rPr lang="en-US" sz="2000" dirty="0">
                <a:latin typeface="Times New Roman" panose="02020603050405020304" pitchFamily="18" charset="0"/>
                <a:cs typeface="Times New Roman" panose="02020603050405020304" pitchFamily="18" charset="0"/>
              </a:rPr>
              <a:t>To develop a machine learning-based system for early prediction of heart disease risk using historical medical data from Kaggle (1025 instances with 11 features like age, sex, chest pain, BP, cholesterol)</a:t>
            </a:r>
          </a:p>
          <a:p>
            <a:pPr>
              <a:lnSpc>
                <a:spcPct val="150000"/>
              </a:lnSpc>
            </a:pPr>
            <a:r>
              <a:rPr lang="en-US" sz="2000" b="1" dirty="0">
                <a:latin typeface="Times New Roman" panose="02020603050405020304" pitchFamily="18" charset="0"/>
                <a:cs typeface="Times New Roman" panose="02020603050405020304" pitchFamily="18" charset="0"/>
              </a:rPr>
              <a:t>Research Gaps: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Healthcare faces scalability issues due to limited workforce</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Challenges in discrete medical data decision-making</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Real-world implementation gaps, including interpretability and remote accessibility for physicians to minimize complications through early identification.</a:t>
            </a:r>
          </a:p>
        </p:txBody>
      </p:sp>
    </p:spTree>
    <p:extLst>
      <p:ext uri="{BB962C8B-B14F-4D97-AF65-F5344CB8AC3E}">
        <p14:creationId xmlns:p14="http://schemas.microsoft.com/office/powerpoint/2010/main" val="2260249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BFD8E-ADC5-4F58-7610-1103F8AA30A1}"/>
              </a:ext>
            </a:extLst>
          </p:cNvPr>
          <p:cNvSpPr>
            <a:spLocks noGrp="1"/>
          </p:cNvSpPr>
          <p:nvPr>
            <p:ph type="title"/>
          </p:nvPr>
        </p:nvSpPr>
        <p:spPr/>
        <p:txBody>
          <a:bodyPr/>
          <a:lstStyle/>
          <a:p>
            <a:r>
              <a:rPr lang="en-US" dirty="0"/>
              <a:t>Literature Survey</a:t>
            </a:r>
          </a:p>
        </p:txBody>
      </p:sp>
      <p:sp>
        <p:nvSpPr>
          <p:cNvPr id="3" name="TextBox 2">
            <a:extLst>
              <a:ext uri="{FF2B5EF4-FFF2-40B4-BE49-F238E27FC236}">
                <a16:creationId xmlns:a16="http://schemas.microsoft.com/office/drawing/2014/main" id="{459EB51D-5005-66E0-2BF5-846EC834208A}"/>
              </a:ext>
            </a:extLst>
          </p:cNvPr>
          <p:cNvSpPr txBox="1"/>
          <p:nvPr/>
        </p:nvSpPr>
        <p:spPr>
          <a:xfrm>
            <a:off x="4610555" y="817224"/>
            <a:ext cx="1724383"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Reference 8</a:t>
            </a:r>
          </a:p>
        </p:txBody>
      </p:sp>
      <p:sp>
        <p:nvSpPr>
          <p:cNvPr id="5" name="TextBox 4">
            <a:extLst>
              <a:ext uri="{FF2B5EF4-FFF2-40B4-BE49-F238E27FC236}">
                <a16:creationId xmlns:a16="http://schemas.microsoft.com/office/drawing/2014/main" id="{FB52E800-F7F0-C256-6F03-1EBF3152BDD1}"/>
              </a:ext>
            </a:extLst>
          </p:cNvPr>
          <p:cNvSpPr txBox="1"/>
          <p:nvPr/>
        </p:nvSpPr>
        <p:spPr>
          <a:xfrm>
            <a:off x="371039" y="1065073"/>
            <a:ext cx="10991654" cy="5490221"/>
          </a:xfrm>
          <a:prstGeom prst="rect">
            <a:avLst/>
          </a:prstGeom>
          <a:noFill/>
        </p:spPr>
        <p:txBody>
          <a:bodyPr wrap="square" rtlCol="0">
            <a:spAutoFit/>
          </a:bodyPr>
          <a:lstStyle/>
          <a:p>
            <a:pPr>
              <a:lnSpc>
                <a:spcPct val="150000"/>
              </a:lnSpc>
            </a:pPr>
            <a:r>
              <a:rPr lang="en-US" sz="1700" b="1" dirty="0">
                <a:latin typeface="Times New Roman" panose="02020603050405020304" pitchFamily="18" charset="0"/>
                <a:cs typeface="Times New Roman" panose="02020603050405020304" pitchFamily="18" charset="0"/>
              </a:rPr>
              <a:t>Title: </a:t>
            </a:r>
            <a:r>
              <a:rPr lang="en-US" dirty="0">
                <a:latin typeface="Times New Roman" panose="02020603050405020304" pitchFamily="18" charset="0"/>
                <a:cs typeface="Times New Roman" panose="02020603050405020304" pitchFamily="18" charset="0"/>
              </a:rPr>
              <a:t>Advancements In Heart Disease Prediction: A Machine Learning Approach For Early Detection And Risk Assessment</a:t>
            </a:r>
          </a:p>
          <a:p>
            <a:pPr>
              <a:lnSpc>
                <a:spcPct val="150000"/>
              </a:lnSpc>
            </a:pPr>
            <a:r>
              <a:rPr lang="en-US" b="1" dirty="0">
                <a:latin typeface="Times New Roman" panose="02020603050405020304" pitchFamily="18" charset="0"/>
                <a:cs typeface="Times New Roman" panose="02020603050405020304" pitchFamily="18" charset="0"/>
              </a:rPr>
              <a:t>Authors: </a:t>
            </a:r>
            <a:r>
              <a:rPr lang="en-US" dirty="0">
                <a:latin typeface="Times New Roman" panose="02020603050405020304" pitchFamily="18" charset="0"/>
                <a:cs typeface="Times New Roman" panose="02020603050405020304" pitchFamily="18" charset="0"/>
              </a:rPr>
              <a:t>Balaji </a:t>
            </a:r>
            <a:r>
              <a:rPr lang="en-US" dirty="0" err="1">
                <a:latin typeface="Times New Roman" panose="02020603050405020304" pitchFamily="18" charset="0"/>
                <a:cs typeface="Times New Roman" panose="02020603050405020304" pitchFamily="18" charset="0"/>
              </a:rPr>
              <a:t>Shesharao</a:t>
            </a:r>
            <a:r>
              <a:rPr lang="en-US" dirty="0">
                <a:latin typeface="Times New Roman" panose="02020603050405020304" pitchFamily="18" charset="0"/>
                <a:cs typeface="Times New Roman" panose="02020603050405020304" pitchFamily="18" charset="0"/>
              </a:rPr>
              <a:t> Ingole, Vishnu Ramineni, Nikhil </a:t>
            </a:r>
            <a:r>
              <a:rPr lang="en-US" dirty="0" err="1">
                <a:latin typeface="Times New Roman" panose="02020603050405020304" pitchFamily="18" charset="0"/>
                <a:cs typeface="Times New Roman" panose="02020603050405020304" pitchFamily="18" charset="0"/>
              </a:rPr>
              <a:t>Bangad</a:t>
            </a:r>
            <a:r>
              <a:rPr lang="en-US" dirty="0">
                <a:latin typeface="Times New Roman" panose="02020603050405020304" pitchFamily="18" charset="0"/>
                <a:cs typeface="Times New Roman" panose="02020603050405020304" pitchFamily="18" charset="0"/>
              </a:rPr>
              <a:t>, Koushik Kumar </a:t>
            </a:r>
            <a:r>
              <a:rPr lang="en-US" dirty="0" err="1">
                <a:latin typeface="Times New Roman" panose="02020603050405020304" pitchFamily="18" charset="0"/>
                <a:cs typeface="Times New Roman" panose="02020603050405020304" pitchFamily="18" charset="0"/>
              </a:rPr>
              <a:t>Ganeeb</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Priyankkumar</a:t>
            </a:r>
            <a:r>
              <a:rPr lang="en-US" dirty="0">
                <a:latin typeface="Times New Roman" panose="02020603050405020304" pitchFamily="18" charset="0"/>
                <a:cs typeface="Times New Roman" panose="02020603050405020304" pitchFamily="18" charset="0"/>
              </a:rPr>
              <a:t> Patel</a:t>
            </a:r>
          </a:p>
          <a:p>
            <a:pPr>
              <a:lnSpc>
                <a:spcPct val="150000"/>
              </a:lnSpc>
            </a:pPr>
            <a:r>
              <a:rPr lang="en-US" b="1" dirty="0">
                <a:latin typeface="Times New Roman" panose="02020603050405020304" pitchFamily="18" charset="0"/>
                <a:cs typeface="Times New Roman" panose="02020603050405020304" pitchFamily="18" charset="0"/>
              </a:rPr>
              <a:t>Year of Publication:</a:t>
            </a:r>
            <a:r>
              <a:rPr lang="en-US" dirty="0">
                <a:latin typeface="Times New Roman" panose="02020603050405020304" pitchFamily="18" charset="0"/>
                <a:cs typeface="Times New Roman" panose="02020603050405020304" pitchFamily="18" charset="0"/>
              </a:rPr>
              <a:t>2017</a:t>
            </a:r>
          </a:p>
          <a:p>
            <a:pPr>
              <a:lnSpc>
                <a:spcPct val="150000"/>
              </a:lnSpc>
            </a:pPr>
            <a:r>
              <a:rPr lang="en-US" b="1" dirty="0">
                <a:latin typeface="Times New Roman" panose="02020603050405020304" pitchFamily="18" charset="0"/>
                <a:cs typeface="Times New Roman" panose="02020603050405020304" pitchFamily="18" charset="0"/>
              </a:rPr>
              <a:t>Objective:</a:t>
            </a:r>
          </a:p>
          <a:p>
            <a:pPr>
              <a:lnSpc>
                <a:spcPct val="150000"/>
              </a:lnSpc>
            </a:pPr>
            <a:r>
              <a:rPr lang="en-US" dirty="0">
                <a:latin typeface="Times New Roman" panose="02020603050405020304" pitchFamily="18" charset="0"/>
                <a:cs typeface="Times New Roman" panose="02020603050405020304" pitchFamily="18" charset="0"/>
              </a:rPr>
              <a:t>To comprehend, assess, and analyze machine learning models' role in predicting heart disease risks using cross-sectional clinical data from Kaggle/UCI.</a:t>
            </a:r>
          </a:p>
          <a:p>
            <a:pPr>
              <a:lnSpc>
                <a:spcPct val="150000"/>
              </a:lnSpc>
            </a:pPr>
            <a:r>
              <a:rPr lang="en-US" dirty="0">
                <a:latin typeface="Times New Roman" panose="02020603050405020304" pitchFamily="18" charset="0"/>
                <a:cs typeface="Times New Roman" panose="02020603050405020304" pitchFamily="18" charset="0"/>
              </a:rPr>
              <a:t>To evaluate seven ML classifiers (Logistic Regression, Random Forest, Decision Tree, Naive Bayes, KNN, Neural Networks, SVM) with hyperparameter tuning for accuracy.</a:t>
            </a:r>
          </a:p>
          <a:p>
            <a:pPr>
              <a:lnSpc>
                <a:spcPct val="150000"/>
              </a:lnSpc>
            </a:pPr>
            <a:r>
              <a:rPr lang="en-US" sz="2000" b="1" dirty="0">
                <a:latin typeface="Times New Roman" panose="02020603050405020304" pitchFamily="18" charset="0"/>
                <a:cs typeface="Times New Roman" panose="02020603050405020304" pitchFamily="18" charset="0"/>
              </a:rPr>
              <a:t>Research Gaps:</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Need for efficient predictive models to detect heart diseases early amid global mortality rates and limited healthcare facilities.</a:t>
            </a:r>
          </a:p>
        </p:txBody>
      </p:sp>
    </p:spTree>
    <p:extLst>
      <p:ext uri="{BB962C8B-B14F-4D97-AF65-F5344CB8AC3E}">
        <p14:creationId xmlns:p14="http://schemas.microsoft.com/office/powerpoint/2010/main" val="1112517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6B3E9-DCED-39AD-634A-DC3DDC674D39}"/>
              </a:ext>
            </a:extLst>
          </p:cNvPr>
          <p:cNvSpPr>
            <a:spLocks noGrp="1"/>
          </p:cNvSpPr>
          <p:nvPr>
            <p:ph type="title"/>
          </p:nvPr>
        </p:nvSpPr>
        <p:spPr/>
        <p:txBody>
          <a:bodyPr/>
          <a:lstStyle/>
          <a:p>
            <a:r>
              <a:rPr lang="en-US" dirty="0"/>
              <a:t>Literature Survey</a:t>
            </a:r>
          </a:p>
        </p:txBody>
      </p:sp>
      <p:sp>
        <p:nvSpPr>
          <p:cNvPr id="3" name="TextBox 2">
            <a:extLst>
              <a:ext uri="{FF2B5EF4-FFF2-40B4-BE49-F238E27FC236}">
                <a16:creationId xmlns:a16="http://schemas.microsoft.com/office/drawing/2014/main" id="{5031268E-7CDA-32D5-2381-44D07834D897}"/>
              </a:ext>
            </a:extLst>
          </p:cNvPr>
          <p:cNvSpPr txBox="1"/>
          <p:nvPr/>
        </p:nvSpPr>
        <p:spPr>
          <a:xfrm>
            <a:off x="4754927" y="948541"/>
            <a:ext cx="1724383"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Reference 9</a:t>
            </a:r>
          </a:p>
        </p:txBody>
      </p:sp>
      <p:sp>
        <p:nvSpPr>
          <p:cNvPr id="4" name="TextBox 3">
            <a:extLst>
              <a:ext uri="{FF2B5EF4-FFF2-40B4-BE49-F238E27FC236}">
                <a16:creationId xmlns:a16="http://schemas.microsoft.com/office/drawing/2014/main" id="{9DFA99CA-0C04-657F-5233-F3CD34C28257}"/>
              </a:ext>
            </a:extLst>
          </p:cNvPr>
          <p:cNvSpPr txBox="1"/>
          <p:nvPr/>
        </p:nvSpPr>
        <p:spPr>
          <a:xfrm>
            <a:off x="358219" y="1133207"/>
            <a:ext cx="11748939" cy="5115311"/>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Title: </a:t>
            </a:r>
            <a:r>
              <a:rPr lang="en-US" sz="2000" dirty="0">
                <a:latin typeface="Times New Roman" panose="02020603050405020304" pitchFamily="18" charset="0"/>
                <a:cs typeface="Times New Roman" panose="02020603050405020304" pitchFamily="18" charset="0"/>
              </a:rPr>
              <a:t>Quantum Machine Learning in Healthcare: Evaluating QNN and QSVM Models</a:t>
            </a:r>
          </a:p>
          <a:p>
            <a:pPr>
              <a:lnSpc>
                <a:spcPct val="150000"/>
              </a:lnSpc>
            </a:pPr>
            <a:r>
              <a:rPr lang="en-US" sz="2000" b="1" dirty="0">
                <a:latin typeface="Times New Roman" panose="02020603050405020304" pitchFamily="18" charset="0"/>
                <a:cs typeface="Times New Roman" panose="02020603050405020304" pitchFamily="18" charset="0"/>
              </a:rPr>
              <a:t>Authors: </a:t>
            </a:r>
            <a:r>
              <a:rPr lang="it-IT" sz="2000" dirty="0">
                <a:latin typeface="Times New Roman" panose="02020603050405020304" pitchFamily="18" charset="0"/>
                <a:cs typeface="Times New Roman" panose="02020603050405020304" pitchFamily="18" charset="0"/>
              </a:rPr>
              <a:t> Antonio Tudisco, Deborah Volpe, and Giovanna Turvani (Politecnico di Torino, Italy)</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Year of Publication:</a:t>
            </a:r>
            <a:r>
              <a:rPr lang="en-US" sz="2000" dirty="0">
                <a:latin typeface="Times New Roman" panose="02020603050405020304" pitchFamily="18" charset="0"/>
                <a:cs typeface="Times New Roman" panose="02020603050405020304" pitchFamily="18" charset="0"/>
              </a:rPr>
              <a:t>2025</a:t>
            </a:r>
          </a:p>
          <a:p>
            <a:pPr>
              <a:lnSpc>
                <a:spcPct val="150000"/>
              </a:lnSpc>
            </a:pPr>
            <a:r>
              <a:rPr lang="en-US" sz="2000" b="1" dirty="0">
                <a:latin typeface="Times New Roman" panose="02020603050405020304" pitchFamily="18" charset="0"/>
                <a:cs typeface="Times New Roman" panose="02020603050405020304" pitchFamily="18" charset="0"/>
              </a:rPr>
              <a:t>Objective:</a:t>
            </a:r>
          </a:p>
          <a:p>
            <a:pPr>
              <a:lnSpc>
                <a:spcPct val="150000"/>
              </a:lnSpc>
            </a:pPr>
            <a:r>
              <a:rPr lang="en-US" sz="2000" dirty="0">
                <a:latin typeface="Times New Roman" panose="02020603050405020304" pitchFamily="18" charset="0"/>
                <a:cs typeface="Times New Roman" panose="02020603050405020304" pitchFamily="18" charset="0"/>
              </a:rPr>
              <a:t>Evaluate Quantum Neural Networks (QNNs) and Quantum Support Vector Machines (QSVMs) for healthcare classification on imbalanced datasets like Prostate Cancer, Heart Failure, and Diabetes.</a:t>
            </a:r>
          </a:p>
          <a:p>
            <a:pPr>
              <a:lnSpc>
                <a:spcPct val="150000"/>
              </a:lnSpc>
            </a:pPr>
            <a:r>
              <a:rPr lang="en-US" sz="2000" b="1" dirty="0">
                <a:latin typeface="Times New Roman" panose="02020603050405020304" pitchFamily="18" charset="0"/>
                <a:cs typeface="Times New Roman" panose="02020603050405020304" pitchFamily="18" charset="0"/>
              </a:rPr>
              <a:t>Research Gaps: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Classical ML struggles with imbalanced healthcare data, leading to biased models with poor minority class recall; quantum models exploit higher-dimensional Hilbert space for better pattern detection. </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Limited evaluation of QNN vs. QSVM in real healthcare scenarios; this work shows QSVMs outperform QNNs (due to QNN overfitting) and beat classical models on highly imbalanced data like Heart Failure.</a:t>
            </a:r>
          </a:p>
        </p:txBody>
      </p:sp>
    </p:spTree>
    <p:extLst>
      <p:ext uri="{BB962C8B-B14F-4D97-AF65-F5344CB8AC3E}">
        <p14:creationId xmlns:p14="http://schemas.microsoft.com/office/powerpoint/2010/main" val="1403703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51281-8CD5-3A4C-8309-726828DE26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B0709A-51C0-65B2-3A00-A13D47A53B45}"/>
              </a:ext>
            </a:extLst>
          </p:cNvPr>
          <p:cNvSpPr>
            <a:spLocks noGrp="1"/>
          </p:cNvSpPr>
          <p:nvPr>
            <p:ph type="title"/>
          </p:nvPr>
        </p:nvSpPr>
        <p:spPr/>
        <p:txBody>
          <a:bodyPr/>
          <a:lstStyle/>
          <a:p>
            <a:r>
              <a:rPr lang="en-US" dirty="0"/>
              <a:t>Literature Survey</a:t>
            </a:r>
          </a:p>
        </p:txBody>
      </p:sp>
      <p:sp>
        <p:nvSpPr>
          <p:cNvPr id="3" name="TextBox 2">
            <a:extLst>
              <a:ext uri="{FF2B5EF4-FFF2-40B4-BE49-F238E27FC236}">
                <a16:creationId xmlns:a16="http://schemas.microsoft.com/office/drawing/2014/main" id="{2EFEF299-DD99-409B-B6AF-2388F8944011}"/>
              </a:ext>
            </a:extLst>
          </p:cNvPr>
          <p:cNvSpPr txBox="1"/>
          <p:nvPr/>
        </p:nvSpPr>
        <p:spPr>
          <a:xfrm>
            <a:off x="4754927" y="948541"/>
            <a:ext cx="1878271"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Reference 10</a:t>
            </a:r>
          </a:p>
        </p:txBody>
      </p:sp>
      <p:sp>
        <p:nvSpPr>
          <p:cNvPr id="4" name="TextBox 3">
            <a:extLst>
              <a:ext uri="{FF2B5EF4-FFF2-40B4-BE49-F238E27FC236}">
                <a16:creationId xmlns:a16="http://schemas.microsoft.com/office/drawing/2014/main" id="{512B5CDD-3143-2D4E-0737-2D736B77A7FE}"/>
              </a:ext>
            </a:extLst>
          </p:cNvPr>
          <p:cNvSpPr txBox="1"/>
          <p:nvPr/>
        </p:nvSpPr>
        <p:spPr>
          <a:xfrm>
            <a:off x="383919" y="1555994"/>
            <a:ext cx="11748939" cy="4093428"/>
          </a:xfrm>
          <a:prstGeom prst="rect">
            <a:avLst/>
          </a:prstGeom>
          <a:noFill/>
        </p:spPr>
        <p:txBody>
          <a:bodyPr wrap="square" rtlCol="0">
            <a:spAutoFit/>
          </a:bodyPr>
          <a:lstStyle/>
          <a:p>
            <a:r>
              <a:rPr lang="en-US" sz="2000" b="1" dirty="0"/>
              <a:t>Title:</a:t>
            </a:r>
            <a:r>
              <a:rPr lang="en-US" sz="2000" dirty="0"/>
              <a:t> Heart Diseases Prediction System Using Quantum Technology</a:t>
            </a:r>
          </a:p>
          <a:p>
            <a:br>
              <a:rPr lang="en-US" sz="2000" dirty="0"/>
            </a:br>
            <a:r>
              <a:rPr lang="en-US" sz="2000" b="1" dirty="0"/>
              <a:t>Authors:</a:t>
            </a:r>
            <a:r>
              <a:rPr lang="en-US" sz="2000" dirty="0"/>
              <a:t> K. S. Rawat and T. Sharma</a:t>
            </a:r>
          </a:p>
          <a:p>
            <a:br>
              <a:rPr lang="en-US" sz="2000" dirty="0"/>
            </a:br>
            <a:r>
              <a:rPr lang="en-US" sz="2000" b="1" dirty="0"/>
              <a:t>Year of Publication:</a:t>
            </a:r>
            <a:r>
              <a:rPr lang="en-US" sz="2000" dirty="0"/>
              <a:t> 2025</a:t>
            </a:r>
          </a:p>
          <a:p>
            <a:r>
              <a:rPr lang="en-US" sz="2000" b="1" dirty="0"/>
              <a:t>Objective:</a:t>
            </a:r>
            <a:br>
              <a:rPr lang="en-US" sz="2000" dirty="0"/>
            </a:br>
            <a:r>
              <a:rPr lang="en-US" sz="2000" dirty="0"/>
              <a:t>To design a heart disease prediction system by integrating quantum computing techniques with machine learning models in order to improve prediction accuracy and computational efficiency for medical diagnosis.</a:t>
            </a:r>
          </a:p>
          <a:p>
            <a:r>
              <a:rPr lang="en-US" sz="2000" b="1" dirty="0"/>
              <a:t>Research Gaps:</a:t>
            </a:r>
            <a:br>
              <a:rPr lang="en-US" sz="2000" dirty="0"/>
            </a:br>
            <a:r>
              <a:rPr lang="en-US" sz="2000" dirty="0"/>
              <a:t>Classical machine learning approaches face scalability and computational challenges when dealing with complex and high-dimensional medical datasets. Limited practical implementations exist that evaluate quantum-based prediction systems on real-world clinical heart disease datasets, highlighting the need for further experimental validation.</a:t>
            </a:r>
          </a:p>
        </p:txBody>
      </p:sp>
    </p:spTree>
    <p:extLst>
      <p:ext uri="{BB962C8B-B14F-4D97-AF65-F5344CB8AC3E}">
        <p14:creationId xmlns:p14="http://schemas.microsoft.com/office/powerpoint/2010/main" val="3953062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17ECF-9EE7-F960-EA1D-227E90231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0BFF1F-EC6D-6731-DA27-AF012F88D8FD}"/>
              </a:ext>
            </a:extLst>
          </p:cNvPr>
          <p:cNvSpPr>
            <a:spLocks noGrp="1"/>
          </p:cNvSpPr>
          <p:nvPr>
            <p:ph type="title"/>
          </p:nvPr>
        </p:nvSpPr>
        <p:spPr/>
        <p:txBody>
          <a:bodyPr/>
          <a:lstStyle/>
          <a:p>
            <a:r>
              <a:rPr lang="en-US" dirty="0"/>
              <a:t>Literature Survey</a:t>
            </a:r>
          </a:p>
        </p:txBody>
      </p:sp>
      <p:sp>
        <p:nvSpPr>
          <p:cNvPr id="3" name="TextBox 2">
            <a:extLst>
              <a:ext uri="{FF2B5EF4-FFF2-40B4-BE49-F238E27FC236}">
                <a16:creationId xmlns:a16="http://schemas.microsoft.com/office/drawing/2014/main" id="{216A429C-751D-4E51-DA9F-2594C6E8D61E}"/>
              </a:ext>
            </a:extLst>
          </p:cNvPr>
          <p:cNvSpPr txBox="1"/>
          <p:nvPr/>
        </p:nvSpPr>
        <p:spPr>
          <a:xfrm>
            <a:off x="4754927" y="948541"/>
            <a:ext cx="1861279"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Reference 11</a:t>
            </a:r>
          </a:p>
        </p:txBody>
      </p:sp>
      <p:sp>
        <p:nvSpPr>
          <p:cNvPr id="4" name="TextBox 3">
            <a:extLst>
              <a:ext uri="{FF2B5EF4-FFF2-40B4-BE49-F238E27FC236}">
                <a16:creationId xmlns:a16="http://schemas.microsoft.com/office/drawing/2014/main" id="{9B8C8256-CC5E-7E2D-B134-87A2EE9A3ABC}"/>
              </a:ext>
            </a:extLst>
          </p:cNvPr>
          <p:cNvSpPr txBox="1"/>
          <p:nvPr/>
        </p:nvSpPr>
        <p:spPr>
          <a:xfrm>
            <a:off x="383919" y="1555994"/>
            <a:ext cx="11748939" cy="4401205"/>
          </a:xfrm>
          <a:prstGeom prst="rect">
            <a:avLst/>
          </a:prstGeom>
          <a:noFill/>
        </p:spPr>
        <p:txBody>
          <a:bodyPr wrap="square" rtlCol="0">
            <a:spAutoFit/>
          </a:bodyPr>
          <a:lstStyle/>
          <a:p>
            <a:r>
              <a:rPr lang="en-US" sz="2000" b="1" dirty="0"/>
              <a:t>Title:</a:t>
            </a:r>
            <a:r>
              <a:rPr lang="en-US" sz="2000" dirty="0"/>
              <a:t> AI-Based Preventive Healthcare Using Quantum Computing</a:t>
            </a:r>
          </a:p>
          <a:p>
            <a:br>
              <a:rPr lang="en-US" sz="2000" dirty="0"/>
            </a:br>
            <a:r>
              <a:rPr lang="en-US" sz="2000" b="1" dirty="0"/>
              <a:t>Authors:</a:t>
            </a:r>
            <a:r>
              <a:rPr lang="en-US" sz="2000" dirty="0"/>
              <a:t> H. Jothi D., M. Y. Ali S., and G. A. </a:t>
            </a:r>
            <a:r>
              <a:rPr lang="en-US" sz="2000" dirty="0" err="1"/>
              <a:t>Yokesh</a:t>
            </a:r>
            <a:r>
              <a:rPr lang="en-US" sz="2000" dirty="0"/>
              <a:t> Kumar</a:t>
            </a:r>
          </a:p>
          <a:p>
            <a:br>
              <a:rPr lang="en-US" sz="2000" dirty="0"/>
            </a:br>
            <a:r>
              <a:rPr lang="en-US" sz="2000" b="1" dirty="0"/>
              <a:t>Year of Publication:</a:t>
            </a:r>
            <a:r>
              <a:rPr lang="en-US" sz="2000" dirty="0"/>
              <a:t> 2025</a:t>
            </a:r>
          </a:p>
          <a:p>
            <a:r>
              <a:rPr lang="en-US" sz="2000" b="1" dirty="0"/>
              <a:t>Objective:</a:t>
            </a:r>
            <a:br>
              <a:rPr lang="en-US" sz="2000" dirty="0"/>
            </a:br>
            <a:r>
              <a:rPr lang="en-US" sz="2000" dirty="0"/>
              <a:t>To propose an AI-driven preventive healthcare framework that leverages quantum computing techniques to enhance disease prediction and early risk assessment, with a focus on improving decision-making in clinical environments.</a:t>
            </a:r>
          </a:p>
          <a:p>
            <a:r>
              <a:rPr lang="en-US" sz="2000" b="1" dirty="0"/>
              <a:t>Research Gaps:</a:t>
            </a:r>
            <a:br>
              <a:rPr lang="en-US" sz="2000" dirty="0"/>
            </a:br>
            <a:r>
              <a:rPr lang="en-US" sz="2000" dirty="0"/>
              <a:t>Existing preventive healthcare systems primarily rely on classical AI models, which may struggle to efficiently capture complex feature interactions in medical data. There is limited empirical evaluation of quantum-assisted machine learning models in real clinical healthcare scenarios, particularly for structured tabular datasets such as heart disease records.</a:t>
            </a:r>
          </a:p>
        </p:txBody>
      </p:sp>
    </p:spTree>
    <p:extLst>
      <p:ext uri="{BB962C8B-B14F-4D97-AF65-F5344CB8AC3E}">
        <p14:creationId xmlns:p14="http://schemas.microsoft.com/office/powerpoint/2010/main" val="2673355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5ED76-59BF-1FCF-AF6A-915F447D5D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E3AB80-FA62-C00B-9522-BBC90377B761}"/>
              </a:ext>
            </a:extLst>
          </p:cNvPr>
          <p:cNvSpPr>
            <a:spLocks noGrp="1"/>
          </p:cNvSpPr>
          <p:nvPr>
            <p:ph type="title"/>
          </p:nvPr>
        </p:nvSpPr>
        <p:spPr/>
        <p:txBody>
          <a:bodyPr/>
          <a:lstStyle/>
          <a:p>
            <a:r>
              <a:rPr lang="en-US" dirty="0"/>
              <a:t>Literature Survey</a:t>
            </a:r>
          </a:p>
        </p:txBody>
      </p:sp>
      <p:sp>
        <p:nvSpPr>
          <p:cNvPr id="3" name="TextBox 2">
            <a:extLst>
              <a:ext uri="{FF2B5EF4-FFF2-40B4-BE49-F238E27FC236}">
                <a16:creationId xmlns:a16="http://schemas.microsoft.com/office/drawing/2014/main" id="{6C25DDA8-7068-A1FE-925A-BEB1FEEC8A1F}"/>
              </a:ext>
            </a:extLst>
          </p:cNvPr>
          <p:cNvSpPr txBox="1"/>
          <p:nvPr/>
        </p:nvSpPr>
        <p:spPr>
          <a:xfrm>
            <a:off x="4754927" y="948541"/>
            <a:ext cx="1878271"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Reference 12</a:t>
            </a:r>
          </a:p>
        </p:txBody>
      </p:sp>
      <p:sp>
        <p:nvSpPr>
          <p:cNvPr id="4" name="TextBox 3">
            <a:extLst>
              <a:ext uri="{FF2B5EF4-FFF2-40B4-BE49-F238E27FC236}">
                <a16:creationId xmlns:a16="http://schemas.microsoft.com/office/drawing/2014/main" id="{28A7E12C-C801-C00A-2FBF-C6E9C5BBF2A1}"/>
              </a:ext>
            </a:extLst>
          </p:cNvPr>
          <p:cNvSpPr txBox="1"/>
          <p:nvPr/>
        </p:nvSpPr>
        <p:spPr>
          <a:xfrm>
            <a:off x="383919" y="1555994"/>
            <a:ext cx="11748939" cy="4401205"/>
          </a:xfrm>
          <a:prstGeom prst="rect">
            <a:avLst/>
          </a:prstGeom>
          <a:noFill/>
        </p:spPr>
        <p:txBody>
          <a:bodyPr wrap="square" rtlCol="0">
            <a:spAutoFit/>
          </a:bodyPr>
          <a:lstStyle/>
          <a:p>
            <a:r>
              <a:rPr lang="en-US" sz="2000" b="1" dirty="0"/>
              <a:t>Title:</a:t>
            </a:r>
            <a:r>
              <a:rPr lang="en-US" sz="2000" dirty="0"/>
              <a:t> Quantum Machine Learning in Healthcare: Evaluating QNN and QSVM Models</a:t>
            </a:r>
          </a:p>
          <a:p>
            <a:br>
              <a:rPr lang="en-US" sz="2000" dirty="0"/>
            </a:br>
            <a:r>
              <a:rPr lang="en-US" sz="2000" b="1" dirty="0"/>
              <a:t>Authors:</a:t>
            </a:r>
            <a:r>
              <a:rPr lang="en-US" sz="2000" dirty="0"/>
              <a:t> Antonio Tudisco, Deborah Volpe, and Giovanna </a:t>
            </a:r>
            <a:r>
              <a:rPr lang="en-US" sz="2000" dirty="0" err="1"/>
              <a:t>Turvani</a:t>
            </a:r>
            <a:br>
              <a:rPr lang="en-US" sz="2000" dirty="0"/>
            </a:br>
            <a:r>
              <a:rPr lang="en-US" sz="2000" b="1" dirty="0"/>
              <a:t>Year of Publication:</a:t>
            </a:r>
            <a:r>
              <a:rPr lang="en-US" sz="2000" dirty="0"/>
              <a:t> 2025</a:t>
            </a:r>
          </a:p>
          <a:p>
            <a:r>
              <a:rPr lang="en-US" sz="2000" b="1" dirty="0"/>
              <a:t>Objective:</a:t>
            </a:r>
            <a:br>
              <a:rPr lang="en-US" sz="2000" dirty="0"/>
            </a:br>
            <a:r>
              <a:rPr lang="en-US" sz="2000" dirty="0"/>
              <a:t>To evaluate the performance of Quantum Neural Networks (QNN) and Quantum Support Vector Machines (QSVM) for healthcare classification tasks, including heart failure, diabetes, and prostate cancer, with a focus on handling imbalanced medical datasets.</a:t>
            </a:r>
          </a:p>
          <a:p>
            <a:r>
              <a:rPr lang="en-US" sz="2000" b="1" dirty="0"/>
              <a:t>Research Gaps:</a:t>
            </a:r>
            <a:br>
              <a:rPr lang="en-US" sz="2000" dirty="0"/>
            </a:br>
            <a:r>
              <a:rPr lang="en-US" sz="2000" dirty="0"/>
              <a:t>Most existing healthcare prediction systems rely on classical machine learning models, which often perform poorly on imbalanced datasets and fail to capture complex non-linear patterns in medical data. Limited comparative studies exist that systematically evaluate QSVM and QNN models against classical machine learning approaches on real-world healthcare datasets, highlighting the need for further investigation into the practical advantages and limitations of quantum machine learning in clinical decision support systems.</a:t>
            </a:r>
          </a:p>
        </p:txBody>
      </p:sp>
    </p:spTree>
    <p:extLst>
      <p:ext uri="{BB962C8B-B14F-4D97-AF65-F5344CB8AC3E}">
        <p14:creationId xmlns:p14="http://schemas.microsoft.com/office/powerpoint/2010/main" val="2288021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D3E96-2ADC-2C9F-6E1D-65869C7309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7483DE-6EA5-D5D6-3802-6B5E50DE6234}"/>
              </a:ext>
            </a:extLst>
          </p:cNvPr>
          <p:cNvSpPr>
            <a:spLocks noGrp="1"/>
          </p:cNvSpPr>
          <p:nvPr>
            <p:ph type="title"/>
          </p:nvPr>
        </p:nvSpPr>
        <p:spPr/>
        <p:txBody>
          <a:bodyPr/>
          <a:lstStyle/>
          <a:p>
            <a:r>
              <a:rPr lang="en-US" dirty="0"/>
              <a:t>Methodology Review</a:t>
            </a:r>
          </a:p>
        </p:txBody>
      </p:sp>
      <p:pic>
        <p:nvPicPr>
          <p:cNvPr id="6" name="Picture 5">
            <a:extLst>
              <a:ext uri="{FF2B5EF4-FFF2-40B4-BE49-F238E27FC236}">
                <a16:creationId xmlns:a16="http://schemas.microsoft.com/office/drawing/2014/main" id="{FB272828-C98B-EB3C-E679-9787594E8112}"/>
              </a:ext>
            </a:extLst>
          </p:cNvPr>
          <p:cNvPicPr>
            <a:picLocks noChangeAspect="1"/>
          </p:cNvPicPr>
          <p:nvPr/>
        </p:nvPicPr>
        <p:blipFill>
          <a:blip r:embed="rId2"/>
          <a:stretch>
            <a:fillRect/>
          </a:stretch>
        </p:blipFill>
        <p:spPr>
          <a:xfrm>
            <a:off x="2467897" y="849736"/>
            <a:ext cx="6833420" cy="5418689"/>
          </a:xfrm>
          <a:prstGeom prst="rect">
            <a:avLst/>
          </a:prstGeom>
        </p:spPr>
      </p:pic>
    </p:spTree>
    <p:extLst>
      <p:ext uri="{BB962C8B-B14F-4D97-AF65-F5344CB8AC3E}">
        <p14:creationId xmlns:p14="http://schemas.microsoft.com/office/powerpoint/2010/main" val="1297658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92026-75CC-ACEC-310C-20791FDEAF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9C4A57-90A8-67CB-26DA-C3584E71187B}"/>
              </a:ext>
            </a:extLst>
          </p:cNvPr>
          <p:cNvSpPr>
            <a:spLocks noGrp="1"/>
          </p:cNvSpPr>
          <p:nvPr>
            <p:ph type="title"/>
          </p:nvPr>
        </p:nvSpPr>
        <p:spPr/>
        <p:txBody>
          <a:bodyPr/>
          <a:lstStyle/>
          <a:p>
            <a:r>
              <a:rPr lang="en-US" dirty="0"/>
              <a:t>Methodology Review</a:t>
            </a:r>
          </a:p>
        </p:txBody>
      </p:sp>
      <p:pic>
        <p:nvPicPr>
          <p:cNvPr id="4" name="Picture 3">
            <a:extLst>
              <a:ext uri="{FF2B5EF4-FFF2-40B4-BE49-F238E27FC236}">
                <a16:creationId xmlns:a16="http://schemas.microsoft.com/office/drawing/2014/main" id="{27C51379-FDDA-19E8-D918-19CDA22437FE}"/>
              </a:ext>
            </a:extLst>
          </p:cNvPr>
          <p:cNvPicPr>
            <a:picLocks noChangeAspect="1"/>
          </p:cNvPicPr>
          <p:nvPr/>
        </p:nvPicPr>
        <p:blipFill>
          <a:blip r:embed="rId2"/>
          <a:stretch>
            <a:fillRect/>
          </a:stretch>
        </p:blipFill>
        <p:spPr>
          <a:xfrm>
            <a:off x="3068782" y="803566"/>
            <a:ext cx="6054435" cy="5701144"/>
          </a:xfrm>
          <a:prstGeom prst="rect">
            <a:avLst/>
          </a:prstGeom>
        </p:spPr>
      </p:pic>
    </p:spTree>
    <p:extLst>
      <p:ext uri="{BB962C8B-B14F-4D97-AF65-F5344CB8AC3E}">
        <p14:creationId xmlns:p14="http://schemas.microsoft.com/office/powerpoint/2010/main" val="3411199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F6C12-CA7E-CB6A-5694-37A1AF811E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831F5D-D207-3505-4948-2A540A0F592F}"/>
              </a:ext>
            </a:extLst>
          </p:cNvPr>
          <p:cNvSpPr>
            <a:spLocks noGrp="1"/>
          </p:cNvSpPr>
          <p:nvPr>
            <p:ph type="title"/>
          </p:nvPr>
        </p:nvSpPr>
        <p:spPr/>
        <p:txBody>
          <a:bodyPr/>
          <a:lstStyle/>
          <a:p>
            <a:r>
              <a:rPr lang="en-US" dirty="0"/>
              <a:t>Methodology Review</a:t>
            </a:r>
          </a:p>
        </p:txBody>
      </p:sp>
      <p:pic>
        <p:nvPicPr>
          <p:cNvPr id="5" name="Picture 4">
            <a:extLst>
              <a:ext uri="{FF2B5EF4-FFF2-40B4-BE49-F238E27FC236}">
                <a16:creationId xmlns:a16="http://schemas.microsoft.com/office/drawing/2014/main" id="{EA302DCB-292C-61DB-D76D-4AB89A62DBF6}"/>
              </a:ext>
            </a:extLst>
          </p:cNvPr>
          <p:cNvPicPr>
            <a:picLocks noChangeAspect="1"/>
          </p:cNvPicPr>
          <p:nvPr/>
        </p:nvPicPr>
        <p:blipFill>
          <a:blip r:embed="rId2"/>
          <a:stretch>
            <a:fillRect/>
          </a:stretch>
        </p:blipFill>
        <p:spPr>
          <a:xfrm>
            <a:off x="786580" y="961616"/>
            <a:ext cx="10235381" cy="5331029"/>
          </a:xfrm>
          <a:prstGeom prst="rect">
            <a:avLst/>
          </a:prstGeom>
        </p:spPr>
      </p:pic>
      <p:sp>
        <p:nvSpPr>
          <p:cNvPr id="6" name="TextBox 5">
            <a:extLst>
              <a:ext uri="{FF2B5EF4-FFF2-40B4-BE49-F238E27FC236}">
                <a16:creationId xmlns:a16="http://schemas.microsoft.com/office/drawing/2014/main" id="{6B66B8C8-4A59-0F8C-7072-905048F26942}"/>
              </a:ext>
            </a:extLst>
          </p:cNvPr>
          <p:cNvSpPr txBox="1"/>
          <p:nvPr/>
        </p:nvSpPr>
        <p:spPr>
          <a:xfrm>
            <a:off x="4178709" y="1120877"/>
            <a:ext cx="3834581" cy="369332"/>
          </a:xfrm>
          <a:prstGeom prst="rect">
            <a:avLst/>
          </a:prstGeom>
          <a:noFill/>
        </p:spPr>
        <p:txBody>
          <a:bodyPr wrap="square" rtlCol="0">
            <a:spAutoFit/>
          </a:bodyPr>
          <a:lstStyle/>
          <a:p>
            <a:pPr algn="ctr"/>
            <a:r>
              <a:rPr lang="en-IN" b="1" dirty="0"/>
              <a:t>Logistic Regression</a:t>
            </a:r>
          </a:p>
        </p:txBody>
      </p:sp>
    </p:spTree>
    <p:extLst>
      <p:ext uri="{BB962C8B-B14F-4D97-AF65-F5344CB8AC3E}">
        <p14:creationId xmlns:p14="http://schemas.microsoft.com/office/powerpoint/2010/main" val="3966595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E2E5B-559F-5E72-6421-EEE8263A1E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E899D7-FBA1-5541-AC44-AD236310451A}"/>
              </a:ext>
            </a:extLst>
          </p:cNvPr>
          <p:cNvSpPr>
            <a:spLocks noGrp="1"/>
          </p:cNvSpPr>
          <p:nvPr>
            <p:ph type="title"/>
          </p:nvPr>
        </p:nvSpPr>
        <p:spPr/>
        <p:txBody>
          <a:bodyPr/>
          <a:lstStyle/>
          <a:p>
            <a:r>
              <a:rPr lang="en-US" dirty="0"/>
              <a:t>Methodology Review</a:t>
            </a:r>
          </a:p>
        </p:txBody>
      </p:sp>
      <p:pic>
        <p:nvPicPr>
          <p:cNvPr id="4" name="Picture 3">
            <a:extLst>
              <a:ext uri="{FF2B5EF4-FFF2-40B4-BE49-F238E27FC236}">
                <a16:creationId xmlns:a16="http://schemas.microsoft.com/office/drawing/2014/main" id="{08413893-1540-9F64-73FB-98A80A178328}"/>
              </a:ext>
            </a:extLst>
          </p:cNvPr>
          <p:cNvPicPr>
            <a:picLocks noChangeAspect="1"/>
          </p:cNvPicPr>
          <p:nvPr/>
        </p:nvPicPr>
        <p:blipFill>
          <a:blip r:embed="rId2"/>
          <a:stretch>
            <a:fillRect/>
          </a:stretch>
        </p:blipFill>
        <p:spPr>
          <a:xfrm>
            <a:off x="29494" y="873126"/>
            <a:ext cx="12133006" cy="5633884"/>
          </a:xfrm>
          <a:prstGeom prst="rect">
            <a:avLst/>
          </a:prstGeom>
        </p:spPr>
      </p:pic>
      <p:sp>
        <p:nvSpPr>
          <p:cNvPr id="6" name="TextBox 5">
            <a:extLst>
              <a:ext uri="{FF2B5EF4-FFF2-40B4-BE49-F238E27FC236}">
                <a16:creationId xmlns:a16="http://schemas.microsoft.com/office/drawing/2014/main" id="{793BEC9C-E4FD-7E6E-A551-F5A4FE9766DD}"/>
              </a:ext>
            </a:extLst>
          </p:cNvPr>
          <p:cNvSpPr txBox="1"/>
          <p:nvPr/>
        </p:nvSpPr>
        <p:spPr>
          <a:xfrm>
            <a:off x="1661652" y="1032387"/>
            <a:ext cx="8426245" cy="369332"/>
          </a:xfrm>
          <a:prstGeom prst="rect">
            <a:avLst/>
          </a:prstGeom>
          <a:noFill/>
        </p:spPr>
        <p:txBody>
          <a:bodyPr wrap="square" rtlCol="0">
            <a:spAutoFit/>
          </a:bodyPr>
          <a:lstStyle/>
          <a:p>
            <a:pPr algn="ctr"/>
            <a:r>
              <a:rPr lang="en-IN" b="1" dirty="0"/>
              <a:t>Random Forest</a:t>
            </a:r>
          </a:p>
        </p:txBody>
      </p:sp>
    </p:spTree>
    <p:extLst>
      <p:ext uri="{BB962C8B-B14F-4D97-AF65-F5344CB8AC3E}">
        <p14:creationId xmlns:p14="http://schemas.microsoft.com/office/powerpoint/2010/main" val="4165110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EE540-E07D-E61E-1B13-A9D1DB1E15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ECE88D-0CA8-BD2D-5B82-D065ECC26F55}"/>
              </a:ext>
            </a:extLst>
          </p:cNvPr>
          <p:cNvSpPr>
            <a:spLocks noGrp="1"/>
          </p:cNvSpPr>
          <p:nvPr>
            <p:ph type="title"/>
          </p:nvPr>
        </p:nvSpPr>
        <p:spPr/>
        <p:txBody>
          <a:bodyPr/>
          <a:lstStyle/>
          <a:p>
            <a:r>
              <a:rPr lang="en-US" dirty="0"/>
              <a:t>Methodology Review</a:t>
            </a:r>
          </a:p>
        </p:txBody>
      </p:sp>
      <p:pic>
        <p:nvPicPr>
          <p:cNvPr id="5" name="Picture 4">
            <a:extLst>
              <a:ext uri="{FF2B5EF4-FFF2-40B4-BE49-F238E27FC236}">
                <a16:creationId xmlns:a16="http://schemas.microsoft.com/office/drawing/2014/main" id="{770CD607-3F1F-DC04-239F-E3586199FD49}"/>
              </a:ext>
            </a:extLst>
          </p:cNvPr>
          <p:cNvPicPr>
            <a:picLocks noChangeAspect="1"/>
          </p:cNvPicPr>
          <p:nvPr/>
        </p:nvPicPr>
        <p:blipFill>
          <a:blip r:embed="rId2"/>
          <a:stretch>
            <a:fillRect/>
          </a:stretch>
        </p:blipFill>
        <p:spPr>
          <a:xfrm>
            <a:off x="304800" y="973394"/>
            <a:ext cx="11582400" cy="5171767"/>
          </a:xfrm>
          <a:prstGeom prst="rect">
            <a:avLst/>
          </a:prstGeom>
        </p:spPr>
      </p:pic>
      <p:sp>
        <p:nvSpPr>
          <p:cNvPr id="6" name="TextBox 5">
            <a:extLst>
              <a:ext uri="{FF2B5EF4-FFF2-40B4-BE49-F238E27FC236}">
                <a16:creationId xmlns:a16="http://schemas.microsoft.com/office/drawing/2014/main" id="{F3541F23-1681-18C4-B22E-891624070740}"/>
              </a:ext>
            </a:extLst>
          </p:cNvPr>
          <p:cNvSpPr txBox="1"/>
          <p:nvPr/>
        </p:nvSpPr>
        <p:spPr>
          <a:xfrm>
            <a:off x="2713703" y="1160206"/>
            <a:ext cx="6538452" cy="369332"/>
          </a:xfrm>
          <a:prstGeom prst="rect">
            <a:avLst/>
          </a:prstGeom>
          <a:noFill/>
        </p:spPr>
        <p:txBody>
          <a:bodyPr wrap="square" rtlCol="0">
            <a:spAutoFit/>
          </a:bodyPr>
          <a:lstStyle/>
          <a:p>
            <a:pPr algn="ctr"/>
            <a:r>
              <a:rPr lang="en-IN" b="1" dirty="0"/>
              <a:t>SVM</a:t>
            </a:r>
          </a:p>
        </p:txBody>
      </p:sp>
    </p:spTree>
    <p:extLst>
      <p:ext uri="{BB962C8B-B14F-4D97-AF65-F5344CB8AC3E}">
        <p14:creationId xmlns:p14="http://schemas.microsoft.com/office/powerpoint/2010/main" val="2778792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3ADA3-3D71-84DE-E53A-7221D2CE82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F43A8D-5F44-A9DA-F020-3BFB0D799D09}"/>
              </a:ext>
            </a:extLst>
          </p:cNvPr>
          <p:cNvSpPr>
            <a:spLocks noGrp="1"/>
          </p:cNvSpPr>
          <p:nvPr>
            <p:ph type="title"/>
          </p:nvPr>
        </p:nvSpPr>
        <p:spPr/>
        <p:txBody>
          <a:bodyPr/>
          <a:lstStyle/>
          <a:p>
            <a:r>
              <a:rPr lang="en-US" dirty="0"/>
              <a:t>Methodology Review</a:t>
            </a:r>
          </a:p>
        </p:txBody>
      </p:sp>
      <p:pic>
        <p:nvPicPr>
          <p:cNvPr id="4" name="Picture 3">
            <a:extLst>
              <a:ext uri="{FF2B5EF4-FFF2-40B4-BE49-F238E27FC236}">
                <a16:creationId xmlns:a16="http://schemas.microsoft.com/office/drawing/2014/main" id="{4CE56D68-4F67-17D4-5238-94BE6BE3A151}"/>
              </a:ext>
            </a:extLst>
          </p:cNvPr>
          <p:cNvPicPr>
            <a:picLocks noChangeAspect="1"/>
          </p:cNvPicPr>
          <p:nvPr/>
        </p:nvPicPr>
        <p:blipFill>
          <a:blip r:embed="rId2"/>
          <a:stretch>
            <a:fillRect/>
          </a:stretch>
        </p:blipFill>
        <p:spPr>
          <a:xfrm>
            <a:off x="766916" y="1089435"/>
            <a:ext cx="10599174" cy="5401854"/>
          </a:xfrm>
          <a:prstGeom prst="rect">
            <a:avLst/>
          </a:prstGeom>
        </p:spPr>
      </p:pic>
    </p:spTree>
    <p:extLst>
      <p:ext uri="{BB962C8B-B14F-4D97-AF65-F5344CB8AC3E}">
        <p14:creationId xmlns:p14="http://schemas.microsoft.com/office/powerpoint/2010/main" val="3146644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753FE-6F44-4CCB-23BE-39D451AAA3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0E403F-2D7A-C8A5-68B6-E8FE0BF4B6F0}"/>
              </a:ext>
            </a:extLst>
          </p:cNvPr>
          <p:cNvSpPr>
            <a:spLocks noGrp="1"/>
          </p:cNvSpPr>
          <p:nvPr>
            <p:ph type="title"/>
          </p:nvPr>
        </p:nvSpPr>
        <p:spPr/>
        <p:txBody>
          <a:bodyPr/>
          <a:lstStyle/>
          <a:p>
            <a:r>
              <a:rPr lang="en-US" dirty="0"/>
              <a:t>Methodology Review</a:t>
            </a:r>
          </a:p>
        </p:txBody>
      </p:sp>
      <p:pic>
        <p:nvPicPr>
          <p:cNvPr id="5" name="Picture 4">
            <a:extLst>
              <a:ext uri="{FF2B5EF4-FFF2-40B4-BE49-F238E27FC236}">
                <a16:creationId xmlns:a16="http://schemas.microsoft.com/office/drawing/2014/main" id="{8B0EE0A2-9E1B-889B-2DB2-1224FD18C8C9}"/>
              </a:ext>
            </a:extLst>
          </p:cNvPr>
          <p:cNvPicPr>
            <a:picLocks noChangeAspect="1"/>
          </p:cNvPicPr>
          <p:nvPr/>
        </p:nvPicPr>
        <p:blipFill>
          <a:blip r:embed="rId2"/>
          <a:stretch>
            <a:fillRect/>
          </a:stretch>
        </p:blipFill>
        <p:spPr>
          <a:xfrm>
            <a:off x="361666" y="873126"/>
            <a:ext cx="11201069" cy="5517842"/>
          </a:xfrm>
          <a:prstGeom prst="rect">
            <a:avLst/>
          </a:prstGeom>
        </p:spPr>
      </p:pic>
      <p:sp>
        <p:nvSpPr>
          <p:cNvPr id="6" name="TextBox 5">
            <a:extLst>
              <a:ext uri="{FF2B5EF4-FFF2-40B4-BE49-F238E27FC236}">
                <a16:creationId xmlns:a16="http://schemas.microsoft.com/office/drawing/2014/main" id="{E9D64C64-F89C-BE84-0B63-71B562FD22FD}"/>
              </a:ext>
            </a:extLst>
          </p:cNvPr>
          <p:cNvSpPr txBox="1"/>
          <p:nvPr/>
        </p:nvSpPr>
        <p:spPr>
          <a:xfrm>
            <a:off x="3500284" y="1067025"/>
            <a:ext cx="4414684" cy="461665"/>
          </a:xfrm>
          <a:prstGeom prst="rect">
            <a:avLst/>
          </a:prstGeom>
          <a:noFill/>
        </p:spPr>
        <p:txBody>
          <a:bodyPr wrap="square" rtlCol="0">
            <a:spAutoFit/>
          </a:bodyPr>
          <a:lstStyle/>
          <a:p>
            <a:pPr algn="ctr"/>
            <a:r>
              <a:rPr lang="en-IN" sz="2400" b="1" dirty="0"/>
              <a:t>VQC</a:t>
            </a:r>
          </a:p>
        </p:txBody>
      </p:sp>
    </p:spTree>
    <p:extLst>
      <p:ext uri="{BB962C8B-B14F-4D97-AF65-F5344CB8AC3E}">
        <p14:creationId xmlns:p14="http://schemas.microsoft.com/office/powerpoint/2010/main" val="3016786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47D27-5A97-B827-478B-3494E1D289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D8E955-44D9-F4D2-75C8-4521FDE92775}"/>
              </a:ext>
            </a:extLst>
          </p:cNvPr>
          <p:cNvSpPr>
            <a:spLocks noGrp="1"/>
          </p:cNvSpPr>
          <p:nvPr>
            <p:ph type="title"/>
          </p:nvPr>
        </p:nvSpPr>
        <p:spPr/>
        <p:txBody>
          <a:bodyPr/>
          <a:lstStyle/>
          <a:p>
            <a:r>
              <a:rPr lang="en-US" dirty="0"/>
              <a:t>Methodology Review</a:t>
            </a:r>
          </a:p>
        </p:txBody>
      </p:sp>
      <p:sp>
        <p:nvSpPr>
          <p:cNvPr id="3" name="TextBox 4">
            <a:extLst>
              <a:ext uri="{FF2B5EF4-FFF2-40B4-BE49-F238E27FC236}">
                <a16:creationId xmlns:a16="http://schemas.microsoft.com/office/drawing/2014/main" id="{0D80886F-4972-0FD8-1EA0-822CEECEE4C1}"/>
              </a:ext>
            </a:extLst>
          </p:cNvPr>
          <p:cNvSpPr txBox="1"/>
          <p:nvPr/>
        </p:nvSpPr>
        <p:spPr>
          <a:xfrm>
            <a:off x="729341" y="956584"/>
            <a:ext cx="1175657" cy="46166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latin typeface="Times New Roman" panose="02020603050405020304" pitchFamily="18" charset="0"/>
                <a:cs typeface="Times New Roman" panose="02020603050405020304" pitchFamily="18" charset="0"/>
              </a:rPr>
              <a:t>Tools:</a:t>
            </a:r>
            <a:endParaRPr lang="en-IN" sz="2400" b="1" dirty="0"/>
          </a:p>
        </p:txBody>
      </p:sp>
      <p:sp>
        <p:nvSpPr>
          <p:cNvPr id="5" name="TextBox 5">
            <a:extLst>
              <a:ext uri="{FF2B5EF4-FFF2-40B4-BE49-F238E27FC236}">
                <a16:creationId xmlns:a16="http://schemas.microsoft.com/office/drawing/2014/main" id="{C34EB530-708E-AD62-1AE9-4DC57B3F0125}"/>
              </a:ext>
            </a:extLst>
          </p:cNvPr>
          <p:cNvSpPr txBox="1"/>
          <p:nvPr/>
        </p:nvSpPr>
        <p:spPr>
          <a:xfrm>
            <a:off x="805545" y="2919439"/>
            <a:ext cx="1959429" cy="46166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latin typeface="Times New Roman" panose="02020603050405020304" pitchFamily="18" charset="0"/>
                <a:cs typeface="Times New Roman" panose="02020603050405020304" pitchFamily="18" charset="0"/>
              </a:rPr>
              <a:t>Technologies:</a:t>
            </a:r>
            <a:endParaRPr lang="en-IN" sz="2400" b="1" dirty="0"/>
          </a:p>
        </p:txBody>
      </p:sp>
      <p:sp>
        <p:nvSpPr>
          <p:cNvPr id="6" name="TextBox 9">
            <a:extLst>
              <a:ext uri="{FF2B5EF4-FFF2-40B4-BE49-F238E27FC236}">
                <a16:creationId xmlns:a16="http://schemas.microsoft.com/office/drawing/2014/main" id="{ADAF5DDA-7B6D-E967-2310-4EAEEB0E50F0}"/>
              </a:ext>
            </a:extLst>
          </p:cNvPr>
          <p:cNvSpPr txBox="1"/>
          <p:nvPr/>
        </p:nvSpPr>
        <p:spPr>
          <a:xfrm>
            <a:off x="3124200" y="3045312"/>
            <a:ext cx="609600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kern="1200" dirty="0">
                <a:solidFill>
                  <a:srgbClr val="FFFFFF"/>
                </a:solidFill>
                <a:effectLst/>
                <a:latin typeface="Times New Roman" panose="02020603050405020304" pitchFamily="18" charset="0"/>
                <a:ea typeface="+mj-ea"/>
                <a:cs typeface="Times New Roman" panose="02020603050405020304" pitchFamily="18" charset="0"/>
              </a:rPr>
              <a:t>Methodology</a:t>
            </a:r>
            <a:endParaRPr lang="en-IN" dirty="0"/>
          </a:p>
        </p:txBody>
      </p:sp>
      <p:sp>
        <p:nvSpPr>
          <p:cNvPr id="7" name="TextBox 13">
            <a:extLst>
              <a:ext uri="{FF2B5EF4-FFF2-40B4-BE49-F238E27FC236}">
                <a16:creationId xmlns:a16="http://schemas.microsoft.com/office/drawing/2014/main" id="{A09CA987-06FA-4474-EFBE-3F5024E2229C}"/>
              </a:ext>
            </a:extLst>
          </p:cNvPr>
          <p:cNvSpPr txBox="1"/>
          <p:nvPr/>
        </p:nvSpPr>
        <p:spPr>
          <a:xfrm>
            <a:off x="805545" y="1618439"/>
            <a:ext cx="5214257" cy="1077218"/>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600" b="1" dirty="0"/>
              <a:t>VS Code</a:t>
            </a:r>
            <a:r>
              <a:rPr lang="en-IN" sz="1600" dirty="0"/>
              <a:t> (Primary Development Environment)</a:t>
            </a:r>
          </a:p>
          <a:p>
            <a:r>
              <a:rPr lang="en-IN" sz="1600" b="1" dirty="0"/>
              <a:t>Node.js / </a:t>
            </a:r>
            <a:r>
              <a:rPr lang="en-IN" sz="1600" b="1" dirty="0" err="1"/>
              <a:t>npm</a:t>
            </a:r>
            <a:r>
              <a:rPr lang="en-IN" sz="1600" dirty="0"/>
              <a:t> (Frontend Build &amp; Dependency Management)</a:t>
            </a:r>
          </a:p>
          <a:p>
            <a:r>
              <a:rPr lang="en-IN" sz="1600" b="1" dirty="0" err="1"/>
              <a:t>Qiskit</a:t>
            </a:r>
            <a:r>
              <a:rPr lang="en-IN" sz="1600" b="1" dirty="0"/>
              <a:t> Aer</a:t>
            </a:r>
            <a:r>
              <a:rPr lang="en-IN" sz="1600" dirty="0"/>
              <a:t> (Simulator for local quantum state vector calculation)</a:t>
            </a:r>
          </a:p>
        </p:txBody>
      </p:sp>
      <p:sp>
        <p:nvSpPr>
          <p:cNvPr id="8" name="TextBox 15">
            <a:extLst>
              <a:ext uri="{FF2B5EF4-FFF2-40B4-BE49-F238E27FC236}">
                <a16:creationId xmlns:a16="http://schemas.microsoft.com/office/drawing/2014/main" id="{08063532-63FA-15AC-6363-55E459C41B30}"/>
              </a:ext>
            </a:extLst>
          </p:cNvPr>
          <p:cNvSpPr txBox="1"/>
          <p:nvPr/>
        </p:nvSpPr>
        <p:spPr>
          <a:xfrm>
            <a:off x="805545" y="3476897"/>
            <a:ext cx="5061857" cy="203132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b="1" dirty="0"/>
              <a:t>Frontend:</a:t>
            </a:r>
            <a:r>
              <a:rPr lang="en-IN" dirty="0"/>
              <a:t> React, Recharts (Data Visualization), </a:t>
            </a:r>
            <a:r>
              <a:rPr lang="en-IN" b="1" dirty="0"/>
              <a:t>Backend:</a:t>
            </a:r>
            <a:r>
              <a:rPr lang="en-IN" dirty="0"/>
              <a:t>  </a:t>
            </a:r>
            <a:r>
              <a:rPr lang="en-IN" dirty="0" err="1"/>
              <a:t>FastAPI</a:t>
            </a:r>
            <a:r>
              <a:rPr lang="en-IN" dirty="0"/>
              <a:t>, </a:t>
            </a:r>
            <a:r>
              <a:rPr lang="en-IN" dirty="0" err="1"/>
              <a:t>Uvicorn</a:t>
            </a:r>
            <a:endParaRPr lang="en-IN" dirty="0"/>
          </a:p>
          <a:p>
            <a:r>
              <a:rPr lang="en-IN" b="1" dirty="0"/>
              <a:t>Machine Learning:</a:t>
            </a:r>
            <a:r>
              <a:rPr lang="en-IN" dirty="0"/>
              <a:t> Scikit-Learn (Classical Architectures)</a:t>
            </a:r>
          </a:p>
          <a:p>
            <a:r>
              <a:rPr lang="en-IN" b="1" dirty="0"/>
              <a:t>Quantum ML:</a:t>
            </a:r>
            <a:r>
              <a:rPr lang="en-IN" dirty="0"/>
              <a:t> </a:t>
            </a:r>
            <a:r>
              <a:rPr lang="en-IN" dirty="0" err="1"/>
              <a:t>Qiskit</a:t>
            </a:r>
            <a:r>
              <a:rPr lang="en-IN" dirty="0"/>
              <a:t> Machine Learning, </a:t>
            </a:r>
            <a:r>
              <a:rPr lang="en-IN" dirty="0" err="1"/>
              <a:t>Qiskit</a:t>
            </a:r>
            <a:r>
              <a:rPr lang="en-IN" dirty="0"/>
              <a:t> Algorithms</a:t>
            </a:r>
          </a:p>
          <a:p>
            <a:r>
              <a:rPr lang="en-IN" b="1" dirty="0"/>
              <a:t>Data Processing:</a:t>
            </a:r>
            <a:r>
              <a:rPr lang="en-IN" dirty="0"/>
              <a:t> Pandas, NumPy</a:t>
            </a:r>
          </a:p>
        </p:txBody>
      </p:sp>
      <p:sp>
        <p:nvSpPr>
          <p:cNvPr id="9" name="TextBox 16">
            <a:extLst>
              <a:ext uri="{FF2B5EF4-FFF2-40B4-BE49-F238E27FC236}">
                <a16:creationId xmlns:a16="http://schemas.microsoft.com/office/drawing/2014/main" id="{38B7B226-FD8F-061D-A429-E96AA1800A05}"/>
              </a:ext>
            </a:extLst>
          </p:cNvPr>
          <p:cNvSpPr txBox="1"/>
          <p:nvPr/>
        </p:nvSpPr>
        <p:spPr>
          <a:xfrm>
            <a:off x="5943598" y="1014950"/>
            <a:ext cx="2438402" cy="46166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2400" b="1" dirty="0">
                <a:latin typeface="Times New Roman" panose="02020603050405020304" pitchFamily="18" charset="0"/>
                <a:cs typeface="Times New Roman" panose="02020603050405020304" pitchFamily="18" charset="0"/>
              </a:rPr>
              <a:t>Knowledge base:</a:t>
            </a:r>
            <a:endParaRPr lang="en-IN" sz="2400" b="1" dirty="0"/>
          </a:p>
        </p:txBody>
      </p:sp>
      <p:sp>
        <p:nvSpPr>
          <p:cNvPr id="10" name="TextBox 17">
            <a:extLst>
              <a:ext uri="{FF2B5EF4-FFF2-40B4-BE49-F238E27FC236}">
                <a16:creationId xmlns:a16="http://schemas.microsoft.com/office/drawing/2014/main" id="{AA5EBA6B-8F83-71AD-C57D-82872A3999BB}"/>
              </a:ext>
            </a:extLst>
          </p:cNvPr>
          <p:cNvSpPr txBox="1"/>
          <p:nvPr/>
        </p:nvSpPr>
        <p:spPr>
          <a:xfrm>
            <a:off x="6172200" y="1830292"/>
            <a:ext cx="5311878" cy="329320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just">
              <a:buFont typeface="Arial" panose="020B0604020202020204" pitchFamily="34" charset="0"/>
              <a:buChar char="•"/>
            </a:pPr>
            <a:endParaRPr lang="en-IN" sz="1600" dirty="0"/>
          </a:p>
          <a:p>
            <a:pPr marL="285750" indent="-285750" algn="just">
              <a:buFont typeface="Arial" panose="020B0604020202020204" pitchFamily="34" charset="0"/>
              <a:buChar char="•"/>
            </a:pPr>
            <a:r>
              <a:rPr lang="en-IN" sz="1600" dirty="0"/>
              <a:t>Hybrid Data Processing: Patient features are dynamically scaled and reduced using Principal Component Analysis (PCA) to accommodate quantum register limitations.</a:t>
            </a:r>
          </a:p>
          <a:p>
            <a:pPr marL="285750" indent="-285750" algn="just">
              <a:buFont typeface="Arial" panose="020B0604020202020204" pitchFamily="34" charset="0"/>
              <a:buChar char="•"/>
            </a:pPr>
            <a:endParaRPr lang="en-IN" sz="1600" dirty="0"/>
          </a:p>
          <a:p>
            <a:pPr marL="285750" indent="-285750" algn="just">
              <a:buFont typeface="Arial" panose="020B0604020202020204" pitchFamily="34" charset="0"/>
              <a:buChar char="•"/>
            </a:pPr>
            <a:r>
              <a:rPr lang="en-IN" sz="1600" dirty="0"/>
              <a:t>Classical Intelligence: Standard ensemble models (Random Forest, SVM, Logistic Regression) are trained in real-time to provide immediate benchmarks.</a:t>
            </a:r>
          </a:p>
          <a:p>
            <a:pPr marL="285750" indent="-285750" algn="just">
              <a:buFont typeface="Arial" panose="020B0604020202020204" pitchFamily="34" charset="0"/>
              <a:buChar char="•"/>
            </a:pPr>
            <a:endParaRPr lang="en-IN" sz="1600" dirty="0"/>
          </a:p>
          <a:p>
            <a:pPr marL="285750" indent="-285750" algn="just">
              <a:buFont typeface="Arial" panose="020B0604020202020204" pitchFamily="34" charset="0"/>
              <a:buChar char="•"/>
            </a:pPr>
            <a:r>
              <a:rPr lang="en-IN" sz="1600" dirty="0"/>
              <a:t>Quantum Classification: Uses Variational Quantum Classifiers (VQC) and Quantum Support Vector Machines (QSVM) to map health data into higher-dimensional Hilbert space for classification.</a:t>
            </a:r>
          </a:p>
        </p:txBody>
      </p:sp>
    </p:spTree>
    <p:extLst>
      <p:ext uri="{BB962C8B-B14F-4D97-AF65-F5344CB8AC3E}">
        <p14:creationId xmlns:p14="http://schemas.microsoft.com/office/powerpoint/2010/main" val="2194103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B0CFD-F8CA-60D9-7B5B-955A60BED8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828816-B41B-7033-1693-5E3CF1E4C94F}"/>
              </a:ext>
            </a:extLst>
          </p:cNvPr>
          <p:cNvSpPr>
            <a:spLocks noGrp="1"/>
          </p:cNvSpPr>
          <p:nvPr>
            <p:ph type="title"/>
          </p:nvPr>
        </p:nvSpPr>
        <p:spPr/>
        <p:txBody>
          <a:bodyPr/>
          <a:lstStyle/>
          <a:p>
            <a:r>
              <a:rPr lang="en-US" dirty="0"/>
              <a:t>Methodology Review</a:t>
            </a:r>
          </a:p>
        </p:txBody>
      </p:sp>
      <p:pic>
        <p:nvPicPr>
          <p:cNvPr id="11" name="Picture 10">
            <a:extLst>
              <a:ext uri="{FF2B5EF4-FFF2-40B4-BE49-F238E27FC236}">
                <a16:creationId xmlns:a16="http://schemas.microsoft.com/office/drawing/2014/main" id="{B92F6462-35F9-8CB7-6FB7-9EE88A9EF8CA}"/>
              </a:ext>
            </a:extLst>
          </p:cNvPr>
          <p:cNvPicPr>
            <a:picLocks noChangeAspect="1"/>
          </p:cNvPicPr>
          <p:nvPr/>
        </p:nvPicPr>
        <p:blipFill>
          <a:blip r:embed="rId2"/>
          <a:stretch>
            <a:fillRect/>
          </a:stretch>
        </p:blipFill>
        <p:spPr>
          <a:xfrm>
            <a:off x="244404" y="1002889"/>
            <a:ext cx="7751474" cy="3283975"/>
          </a:xfrm>
          <a:prstGeom prst="rect">
            <a:avLst/>
          </a:prstGeom>
        </p:spPr>
      </p:pic>
      <p:pic>
        <p:nvPicPr>
          <p:cNvPr id="13" name="Picture 12">
            <a:extLst>
              <a:ext uri="{FF2B5EF4-FFF2-40B4-BE49-F238E27FC236}">
                <a16:creationId xmlns:a16="http://schemas.microsoft.com/office/drawing/2014/main" id="{FCA7E294-9458-AFE5-36E6-532C4FFFA799}"/>
              </a:ext>
            </a:extLst>
          </p:cNvPr>
          <p:cNvPicPr>
            <a:picLocks noChangeAspect="1"/>
          </p:cNvPicPr>
          <p:nvPr/>
        </p:nvPicPr>
        <p:blipFill>
          <a:blip r:embed="rId3"/>
          <a:stretch>
            <a:fillRect/>
          </a:stretch>
        </p:blipFill>
        <p:spPr>
          <a:xfrm>
            <a:off x="6705601" y="1816895"/>
            <a:ext cx="5410436" cy="4530744"/>
          </a:xfrm>
          <a:prstGeom prst="rect">
            <a:avLst/>
          </a:prstGeom>
        </p:spPr>
      </p:pic>
    </p:spTree>
    <p:extLst>
      <p:ext uri="{BB962C8B-B14F-4D97-AF65-F5344CB8AC3E}">
        <p14:creationId xmlns:p14="http://schemas.microsoft.com/office/powerpoint/2010/main" val="38677977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D1760B6-9D85-CC27-AE35-35F00DE675F6}"/>
              </a:ext>
            </a:extLst>
          </p:cNvPr>
          <p:cNvSpPr txBox="1"/>
          <p:nvPr/>
        </p:nvSpPr>
        <p:spPr>
          <a:xfrm>
            <a:off x="669471" y="1107532"/>
            <a:ext cx="10853057" cy="4893647"/>
          </a:xfrm>
          <a:prstGeom prst="rect">
            <a:avLst/>
          </a:prstGeom>
          <a:noFill/>
        </p:spPr>
        <p:txBody>
          <a:bodyPr wrap="square" rtlCol="0">
            <a:spAutoFit/>
          </a:bodyPr>
          <a:lstStyle/>
          <a:p>
            <a:pPr>
              <a:lnSpc>
                <a:spcPct val="150000"/>
              </a:lnSpc>
            </a:pPr>
            <a:r>
              <a:rPr lang="en-US" sz="1600" b="1" dirty="0">
                <a:latin typeface="Times New Roman" panose="02020603050405020304" pitchFamily="18" charset="0"/>
                <a:cs typeface="Times New Roman" panose="02020603050405020304" pitchFamily="18" charset="0"/>
              </a:rPr>
              <a:t>References:</a:t>
            </a:r>
          </a:p>
          <a:p>
            <a:r>
              <a:rPr lang="en-IN" sz="1600" dirty="0"/>
              <a:t>[1] S. Prabhu, S. Gupta, G. M. Prabhu, A. V. </a:t>
            </a:r>
            <a:r>
              <a:rPr lang="en-IN" sz="1600" dirty="0" err="1"/>
              <a:t>Dhanuka</a:t>
            </a:r>
            <a:r>
              <a:rPr lang="en-IN" sz="1600" dirty="0"/>
              <a:t>, and K. V. Bhat, “</a:t>
            </a:r>
            <a:r>
              <a:rPr lang="en-IN" sz="1600" dirty="0" err="1"/>
              <a:t>QuCardio</a:t>
            </a:r>
            <a:r>
              <a:rPr lang="en-IN" sz="1600" dirty="0"/>
              <a:t>: Application of Quantum Machine Learning for Detection of Cardiovascular Diseases,” </a:t>
            </a:r>
            <a:r>
              <a:rPr lang="en-IN" sz="1600" i="1" dirty="0"/>
              <a:t>IEEE Access</a:t>
            </a:r>
            <a:r>
              <a:rPr lang="en-IN" sz="1600" dirty="0"/>
              <a:t>, vol. 11, pp. 136122–136135, 2023. Available: </a:t>
            </a:r>
            <a:r>
              <a:rPr lang="en-IN" sz="1600" dirty="0">
                <a:hlinkClick r:id="rId2"/>
              </a:rPr>
              <a:t>https://ieeexplore.ieee.org/document/10335179</a:t>
            </a:r>
            <a:endParaRPr lang="en-IN" sz="1600" dirty="0"/>
          </a:p>
          <a:p>
            <a:endParaRPr lang="en-IN" sz="1600" dirty="0"/>
          </a:p>
          <a:p>
            <a:r>
              <a:rPr lang="en-IN" sz="1600" dirty="0"/>
              <a:t>[2] M. Banday, S. Zafar, P. Agarwal, M. Afshar Alam, S. S. Biswas, I. Hussain, and K. M. Abubeker, “Predictive Analysis of Heart Disease Using Quantum-Assisted Machine Learning,” </a:t>
            </a:r>
            <a:r>
              <a:rPr lang="en-IN" sz="1600" i="1" dirty="0"/>
              <a:t>Discover Applied Sciences</a:t>
            </a:r>
            <a:r>
              <a:rPr lang="en-IN" sz="1600" dirty="0"/>
              <a:t>, 2025.</a:t>
            </a:r>
          </a:p>
          <a:p>
            <a:endParaRPr lang="en-IN" sz="1600" dirty="0"/>
          </a:p>
          <a:p>
            <a:r>
              <a:rPr lang="en-IN" sz="1600" dirty="0"/>
              <a:t>[3] Y. Babu, P. Ramya, and J. Gracewell, “Revolutionizing Heart Disease Prediction with Quantum-Enhanced Machine Learning,” </a:t>
            </a:r>
            <a:r>
              <a:rPr lang="en-IN" sz="1600" i="1" dirty="0"/>
              <a:t>Scientific Reports</a:t>
            </a:r>
            <a:r>
              <a:rPr lang="en-IN" sz="1600" dirty="0"/>
              <a:t>, vol. 14, art. no. 7453, 2024. Available: </a:t>
            </a:r>
            <a:r>
              <a:rPr lang="en-IN" sz="1600" dirty="0">
                <a:hlinkClick r:id="rId3"/>
              </a:rPr>
              <a:t>https://www.nature.com/articles/s41598-024-55991-w</a:t>
            </a:r>
            <a:endParaRPr lang="en-IN" sz="1600" dirty="0"/>
          </a:p>
          <a:p>
            <a:endParaRPr lang="en-IN" sz="1600" dirty="0"/>
          </a:p>
          <a:p>
            <a:r>
              <a:rPr lang="en-IN" sz="1600" dirty="0"/>
              <a:t>[4] A. Kumar, D. </a:t>
            </a:r>
            <a:r>
              <a:rPr lang="en-IN" sz="1600" dirty="0" err="1"/>
              <a:t>Dhanka</a:t>
            </a:r>
            <a:r>
              <a:rPr lang="en-IN" sz="1600" dirty="0"/>
              <a:t>, A. Sharma, R. Bansal, M. </a:t>
            </a:r>
            <a:r>
              <a:rPr lang="en-IN" sz="1600" dirty="0" err="1"/>
              <a:t>Fahlevi</a:t>
            </a:r>
            <a:r>
              <a:rPr lang="en-IN" sz="1600" dirty="0"/>
              <a:t>, F. Rabby, and M. </a:t>
            </a:r>
            <a:r>
              <a:rPr lang="en-IN" sz="1600" dirty="0" err="1"/>
              <a:t>Aljuaid</a:t>
            </a:r>
            <a:r>
              <a:rPr lang="en-IN" sz="1600" dirty="0"/>
              <a:t>, “A Hybrid Framework for Heart Disease Prediction Using Classical and Quantum-Inspired Machine Learning Techniques,” </a:t>
            </a:r>
            <a:r>
              <a:rPr lang="en-IN" sz="1600" i="1" dirty="0"/>
              <a:t>Scientific Reports</a:t>
            </a:r>
            <a:r>
              <a:rPr lang="en-IN" sz="1600" dirty="0"/>
              <a:t>, 2025. Available: </a:t>
            </a:r>
            <a:r>
              <a:rPr lang="en-IN" sz="1600" dirty="0">
                <a:hlinkClick r:id="rId4"/>
              </a:rPr>
              <a:t>https://www.nature.com/articles/s41598-025-09957-1</a:t>
            </a:r>
            <a:endParaRPr lang="en-IN" sz="1600" dirty="0"/>
          </a:p>
          <a:p>
            <a:endParaRPr lang="en-IN" sz="1600" dirty="0"/>
          </a:p>
          <a:p>
            <a:r>
              <a:rPr lang="en-IN" sz="1600" dirty="0"/>
              <a:t>[5] K. S. Rawat and T. Sharma, “Heart Diseases Prediction System Using Quantum Technology,” </a:t>
            </a:r>
            <a:r>
              <a:rPr lang="en-IN" sz="1600" i="1" dirty="0"/>
              <a:t>Network </a:t>
            </a:r>
            <a:r>
              <a:rPr lang="en-IN" sz="1600" i="1" dirty="0" err="1"/>
              <a:t>Modeling</a:t>
            </a:r>
            <a:r>
              <a:rPr lang="en-IN" sz="1600" i="1" dirty="0"/>
              <a:t> Analysis in Health Informatics and Bioinformatics</a:t>
            </a:r>
            <a:r>
              <a:rPr lang="en-IN" sz="1600" dirty="0"/>
              <a:t>, vol. 14, no. 1, 2025. Available: </a:t>
            </a:r>
            <a:r>
              <a:rPr lang="en-IN" sz="1600" dirty="0">
                <a:hlinkClick r:id="rId5"/>
              </a:rPr>
              <a:t>https://doi.org/10.1007/s13721-025-00623-0</a:t>
            </a:r>
            <a:endParaRPr lang="en-IN" sz="1600" dirty="0"/>
          </a:p>
          <a:p>
            <a:r>
              <a:rPr lang="en-IN" sz="1600" dirty="0"/>
              <a:t>[6] H. Jothi D., M. Y. Ali S., and G. A. </a:t>
            </a:r>
            <a:r>
              <a:rPr lang="en-IN" sz="1600" dirty="0" err="1"/>
              <a:t>Yokesh</a:t>
            </a:r>
            <a:r>
              <a:rPr lang="en-IN" sz="1600" dirty="0"/>
              <a:t> Kumar, “AI-Based Preventive Healthcare Using Quantum Computing,” </a:t>
            </a:r>
            <a:r>
              <a:rPr lang="en-IN" sz="1600" i="1" dirty="0"/>
              <a:t>Journal of Nanoscience, </a:t>
            </a:r>
            <a:r>
              <a:rPr lang="en-IN" sz="1600" i="1" dirty="0" err="1"/>
              <a:t>NanoEngineering</a:t>
            </a:r>
            <a:r>
              <a:rPr lang="en-IN" sz="1600" i="1" dirty="0"/>
              <a:t> &amp; Applications</a:t>
            </a:r>
            <a:r>
              <a:rPr lang="en-IN" sz="1600" dirty="0"/>
              <a:t>, vol. 15, no. 02, 2025.</a:t>
            </a:r>
          </a:p>
        </p:txBody>
      </p:sp>
    </p:spTree>
    <p:extLst>
      <p:ext uri="{BB962C8B-B14F-4D97-AF65-F5344CB8AC3E}">
        <p14:creationId xmlns:p14="http://schemas.microsoft.com/office/powerpoint/2010/main" val="2942782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77729930"/>
      </p:ext>
    </p:extLst>
  </p:cSld>
  <p:clrMapOvr>
    <a:masterClrMapping/>
  </p:clrMapOvr>
  <p:transition spd="slow">
    <p:push dir="u"/>
  </p:transition>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000000"/>
      </a:dk2>
      <a:lt2>
        <a:srgbClr val="E7E6E6"/>
      </a:lt2>
      <a:accent1>
        <a:srgbClr val="1E4E79"/>
      </a:accent1>
      <a:accent2>
        <a:srgbClr val="FF0000"/>
      </a:accent2>
      <a:accent3>
        <a:srgbClr val="FFC000"/>
      </a:accent3>
      <a:accent4>
        <a:srgbClr val="222A35"/>
      </a:accent4>
      <a:accent5>
        <a:srgbClr val="5B9BD5"/>
      </a:accent5>
      <a:accent6>
        <a:srgbClr val="1E4E79"/>
      </a:accent6>
      <a:hlink>
        <a:srgbClr val="0563C1"/>
      </a:hlink>
      <a:folHlink>
        <a:srgbClr val="1E4E7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1342</TotalTime>
  <Words>2522</Words>
  <Application>Microsoft Office PowerPoint</Application>
  <PresentationFormat>Widescreen</PresentationFormat>
  <Paragraphs>181</Paragraphs>
  <Slides>28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Allura</vt:lpstr>
      <vt:lpstr>Arial</vt:lpstr>
      <vt:lpstr>Calibri</vt:lpstr>
      <vt:lpstr>Segoe UI</vt:lpstr>
      <vt:lpstr>Times New Roman</vt:lpstr>
      <vt:lpstr>Office Theme</vt:lpstr>
      <vt:lpstr>PowerPoint Presentation</vt:lpstr>
      <vt:lpstr>PowerPoint Presentation</vt:lpstr>
      <vt:lpstr>PowerPoint Presentation</vt:lpstr>
      <vt:lpstr>PowerPoint Presentation</vt:lpstr>
      <vt:lpstr>PowerPoint Presentation</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Methodology Review</vt:lpstr>
      <vt:lpstr>Methodology Review</vt:lpstr>
      <vt:lpstr>Methodology Review</vt:lpstr>
      <vt:lpstr>Methodology Review</vt:lpstr>
      <vt:lpstr>Methodology Review</vt:lpstr>
      <vt:lpstr>Methodology Review</vt:lpstr>
      <vt:lpstr>Methodology Review</vt:lpstr>
      <vt:lpstr>Methodology Review</vt:lpstr>
      <vt:lpstr>Methodology Review</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Nithinram P</dc:creator>
  <cp:lastModifiedBy>Venkata Jagan</cp:lastModifiedBy>
  <cp:revision>67</cp:revision>
  <dcterms:created xsi:type="dcterms:W3CDTF">2023-12-15T04:48:01Z</dcterms:created>
  <dcterms:modified xsi:type="dcterms:W3CDTF">2026-03-31T09:28:39Z</dcterms:modified>
</cp:coreProperties>
</file>